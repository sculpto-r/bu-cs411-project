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1" r:id="rId2"/>
    <p:sldId id="257" r:id="rId3"/>
    <p:sldId id="294" r:id="rId4"/>
    <p:sldId id="327" r:id="rId5"/>
    <p:sldId id="297" r:id="rId6"/>
    <p:sldId id="313" r:id="rId7"/>
    <p:sldId id="326" r:id="rId8"/>
    <p:sldId id="279" r:id="rId9"/>
    <p:sldId id="280" r:id="rId10"/>
    <p:sldId id="282" r:id="rId11"/>
    <p:sldId id="283" r:id="rId12"/>
    <p:sldId id="285" r:id="rId13"/>
    <p:sldId id="260" r:id="rId14"/>
    <p:sldId id="286" r:id="rId15"/>
    <p:sldId id="262" r:id="rId16"/>
    <p:sldId id="263" r:id="rId17"/>
    <p:sldId id="259" r:id="rId18"/>
    <p:sldId id="261" r:id="rId19"/>
    <p:sldId id="264" r:id="rId20"/>
    <p:sldId id="265" r:id="rId21"/>
    <p:sldId id="266" r:id="rId22"/>
    <p:sldId id="267" r:id="rId23"/>
    <p:sldId id="268" r:id="rId24"/>
    <p:sldId id="269" r:id="rId25"/>
    <p:sldId id="287" r:id="rId26"/>
    <p:sldId id="288" r:id="rId27"/>
    <p:sldId id="364" r:id="rId28"/>
    <p:sldId id="290" r:id="rId29"/>
    <p:sldId id="328" r:id="rId30"/>
    <p:sldId id="323" r:id="rId31"/>
    <p:sldId id="338" r:id="rId32"/>
    <p:sldId id="339" r:id="rId33"/>
    <p:sldId id="337" r:id="rId34"/>
    <p:sldId id="341" r:id="rId35"/>
    <p:sldId id="332" r:id="rId36"/>
    <p:sldId id="333" r:id="rId37"/>
    <p:sldId id="334" r:id="rId38"/>
    <p:sldId id="335" r:id="rId39"/>
    <p:sldId id="336" r:id="rId40"/>
    <p:sldId id="342" r:id="rId41"/>
    <p:sldId id="321" r:id="rId42"/>
    <p:sldId id="343" r:id="rId43"/>
    <p:sldId id="318" r:id="rId44"/>
    <p:sldId id="320" r:id="rId45"/>
    <p:sldId id="319" r:id="rId46"/>
    <p:sldId id="344" r:id="rId47"/>
    <p:sldId id="324" r:id="rId48"/>
    <p:sldId id="345" r:id="rId49"/>
    <p:sldId id="322" r:id="rId50"/>
    <p:sldId id="293" r:id="rId51"/>
    <p:sldId id="270" r:id="rId52"/>
    <p:sldId id="271" r:id="rId53"/>
    <p:sldId id="272" r:id="rId54"/>
    <p:sldId id="273" r:id="rId55"/>
    <p:sldId id="274" r:id="rId56"/>
    <p:sldId id="275" r:id="rId57"/>
    <p:sldId id="276" r:id="rId58"/>
    <p:sldId id="277" r:id="rId59"/>
    <p:sldId id="278" r:id="rId60"/>
    <p:sldId id="346" r:id="rId61"/>
    <p:sldId id="362" r:id="rId62"/>
    <p:sldId id="349" r:id="rId63"/>
    <p:sldId id="350" r:id="rId64"/>
    <p:sldId id="351" r:id="rId65"/>
    <p:sldId id="352" r:id="rId66"/>
    <p:sldId id="353" r:id="rId67"/>
    <p:sldId id="354" r:id="rId68"/>
    <p:sldId id="355" r:id="rId69"/>
    <p:sldId id="356" r:id="rId70"/>
    <p:sldId id="363" r:id="rId71"/>
    <p:sldId id="357" r:id="rId72"/>
    <p:sldId id="358" r:id="rId73"/>
    <p:sldId id="359" r:id="rId74"/>
    <p:sldId id="360" r:id="rId75"/>
    <p:sldId id="361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E3FE"/>
    <a:srgbClr val="2429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7-03T21:37:27.9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1989 3954 785 0,'0'-7'456'0,"-1"-1"-254"0,1 2 135 0,1-2-209 0,1-1-3 0,0 0-16 0,0 0-3 0,1 0-7 0,-1 1-23 0,1-1 2 0,0-3-6 16,-3 3 4-16,1-1-19 0,-1 2 3 0,-1 0-4 16,-1 2 3-16,0 2-6 0,0 2-3 0,0-1-2 15,1 4-2-15,-2 1-16 0,-1 2-5 0,0-1-2 16,1 1 0-16,-1 0 3 0,-1 0-2 0,2 4 0 16,-2-3-1-16,1 4-4 0,2 1-1 0,-1-1-2 0,0 2 0 15,2 2-4-15,1-1-1 0,-2 4 0 0,2 2-1 16,1 1-2-16,1-1 1 0,-1 5 1 0,0 3-1 15,1 3 2-15,0 2-1 0,-1 4-1 0,-1 6 0 16,-3 5 2-16,0 4-1 0,-3 0-2 0,2-3 1 16,-2-1 5-16,1-2 0 0,-1 4 5 0,-1 0-5 15,1 3 7-15,-3 7-3 0,0-1-2 0,1 2 1 16,0 0-3-16,1-7-2 0,2 1 2 0,-4-3-3 16,5-2-4-16,3 0 5 0,2-2-7 0,7-4 5 15,-3-3-7-15,1-7 0 0,-2-2 3 0,2-3-2 16,2-4-4-16,-3-5-3 0,4-1 6 0,-4-3-4 15,2-3 3-15,1 0 1 0,-2-2-5 0,0 0 3 16,1-3-2-16,-1 2 4 0,-2-2-4 0,0-1 3 0,0-1-7 16,-1-1 6-16,0-2 3 0,1 0 0 15,1-1-4-15,0 1 1 0,1-1 0 0,-1-1 0 0,3-1-1 16,1-1 0-16,3 0-1 0,0-2 1 0,1 0 2 16,5 0-2-16,4-1 0 0,5-1-2 0,5-2-1 15,4 0 6-15,3 0-2 0,1-1 4 0,-1-3-5 0,1 1-3 16,-2-4 3-16,0-2-4 0,-1-2 2 15,-4-2 9-15,1-5-6 0,1 2 7 0,0-1-9 0,-4-4 1 16,3 5-1-16,-4-3 1 0,1 0-10 0,-1 5 7 16,-4-2 2-16,-5 0 0 0,-5-1 0 0,-5 3 4 15,-3-1-7-15,0 1 5 0,-4 0-7 0,-2 1 0 16,-3-3 1-16,-5-1-2 0,0-3-1 0,-10-1 2 16,2-2 3-16,-7 5 0 0,-6-1 0 0,-3 8 2 15,-4 5-5-15,1 4 4 0,2 4-2 0,4 5 3 16,5 2 1-16,5 3 0 0,1 5-5 0,4 5 5 15,0-3 1-15,2 4 1 0,2 7-2 0,0-9 2 16,1 5-5-16,2-3 4 0,1-5-2 0,3-2 0 16,0-4 1-16,1 1-1 0,0-4-3 0,0 0 1 15,1 0-3-15,2 2 3 0,0-2 3 0,1 0-5 16,3-2 5-16,1-2-5 0,1 1 8 0,1-5-4 0,1 0 4 16,1 1-5-16,3-2 3 0,3 2-4 15,0-1 1-15,6 1-2 0,1 0 13 0,5-5-7 16,2 0 1-16,5-1-3 0,-2 0-5 0,5-4 5 0,-2-3-4 15,-3-4 4-15,1 4 3 0,-3 0-3 0,1 1 0 16,-4 0-1-16,-1-2-3 0,3 0 5 0,2 0 2 16,-1-1 1-16,-2 1-3 0,-5 1 2 0,-3 4-6 15,-11 3 3-15,-4-2-3 0,-1 1 5 0,-11-1 1 16,3-1 1-16,1 3-9 0,-8-5 5 0,7-2 0 16,-10-3 2-16,-5 0 0 0,0 1-1 0,-7 1-3 0,0 6 2 15,-1-2 0-15,-3 3-3 0,-2-1 3 0,-3-2-2 16,-4 3 3-16,-4-3 2 0,-10 0-3 0,-6 0 0 15,-9-4-8-15,-8 4 8 0,4-3-4 0,1 0 4 16,11 2-11-16,9 1-2 0,-3 3 3 0,3 6-1 16,-3 5 8-16,-5 5-3 0,6 7 5 0,-1 7-4 15,5 1 5-15,10 4 0 0,5-1-3 0,6-2 3 16,4-2-3-16,6 0-17 0,3-2-7 0,3 1-7 16,2-4-53-16,4-1-88 0,4 2-2 0,2 1-32 15,5-4-48-15,3 3-67 0,4-3 32 0,3-2-39 16,1 3 331-16</inkml:trace>
  <inkml:trace contextRef="#ctx0" brushRef="#br0" timeOffset="647.44">3368 5097 1194 0,'-13'15'200'0,"2"-1"-131"0,0 2 5 0,0-1 1 0,6 3 32 0,-4-7-11 0,2 1 1 0,4-2-6 0,-4-6-6 0,5 1-10 0,1 0-6 0,1-5-2 16,4 2-32-16,2-2-10 0,-3-12-2 0,6 2-2 16,-1-9 3-16,5-5-8 0,3 3 5 0,-2-9-7 15,1 3 2-15,-2-1 7 0,3-2-5 0,-3-4 6 16,3 0-6-16,-3-3 0 0,1-4 1 0,2-11-2 16,-1-7-4-16,1-3 1 0,-2-2 2 0,-2 7-2 15,0 7-2-15,1 7-7 0,-1-2 2 0,-2-1-3 16,1-4-4-16,-2-2 9 0,1 2-3 0,-2 4 8 15,0 8-2-15,1 12-1 0,-3 4-4 0,-3 6 2 16,0 6-4-16,-3 4-2 0,5 3 3 0,-3 2-3 16,-2 1-6-16,1 4 10 0,-2 5-6 0,2 7 9 15,6 9-10-15,-1 9 0 0,4 3 0 0,-5 10 1 16,-4 0 9-16,5 2-10 0,-4-1 5 0,8-2-7 16,3 3 0-16,1 6 0 0,-2 10-2 0,-3 11 2 0,1 4 6 15,0-5-25-15,0-9 2 0,-1-12-14 0,3-4-21 16,-2-5-48-16,2-6 6 0,0 4-22 0,-4-7-22 15,2-6-36-15,2-2 6 0,-4-11-13 0,1-3 11 16</inkml:trace>
  <inkml:trace contextRef="#ctx0" brushRef="#br0" timeOffset="831.4">3562 4856 2010 0,'0'0'60'0,"0"-1"43"15,2 0-6-15,2-3 17 0,2 0-13 0,2-3-27 16,5-2-3-16,3-2-8 0,3-2-23 0,4-3-21 16,0-1 1-16,2 1-8 0,4 0-8 0,2 6-7 15,-1 3-11-15,1 5-5 0,-5 3-94 0,1 5-111 16,-1 5-23-16,-5-2-31 0,1 2-131 0</inkml:trace>
  <inkml:trace contextRef="#ctx0" brushRef="#br0" timeOffset="1101.52">4456 4450 1369 0,'0'-5'225'0,"-2"1"-99"0,-4-1 52 15,-1 1-114-15,-1 0 68 0,-2 1-17 0,-4-2 2 16,-2 1-15-16,-3 4-54 0,-6-2 3 0,0 4 0 15,-2 3 2-15,2 2-8 0,-6 4-17 0,3 3-1 16,0 2-4-16,2 5-2 0,7 2-2 0,2 3-2 16,5 7 2-16,4 5-2 0,6 10-13 0,5 7 4 15,7 1-7-15,7-3 12 0,5-14-9 0,8-3 3 0,-1-10-6 16,4-5-1-16,-2-7 0 0,2-5-4 0,3-5 0 16,-3-2-42-16,1-2-92 0,-4-3-5 0,-4-3-39 15,0-1-131-15</inkml:trace>
  <inkml:trace contextRef="#ctx0" brushRef="#br0" timeOffset="1680.37">4764 4431 1264 0,'7'-5'204'0,"-7"1"-60"0,0 0 61 0,-1 2-147 0,-1 0 54 15,2 0 20-15,0 2-9 0,-3 1 6 0,3 0-60 0,-1 2-12 16,-2 1-5-16,-1 2 0 0,2 2-4 16,-3 1-18-16,5 2 3 0,6 6-8 0,-7-3-7 0,5 4-1 15,-3 2-5-15,-2 4 1 0,2 2-8 0,0 4-1 16,3 7 0-16,1 4-2 0,0 1-3 0,-2-2 4 16,4-3-3-16,1-8 4 0,-2-3-4 0,-1-7-3 15,2-3 7-15,-4-4-6 0,6-3 3 0,4-1-1 16,0-2-3-16,-1-2 2 0,-1-2 8 0,-3-2-8 15,-1 0 1-15,2-3-3 0,-2-2 5 0,-3-3-3 16,3 1-1-16,-3-4-1 0,4 1 1 0,-1-1-1 16,-1-5 0-16,0-2-2 0,0-3-3 0,2 0 9 15,0-3 0-15,0-2 3 0,-2 0-4 0,2 1 0 16,-2 2 0-16,2 4 0 0,1-1-2 0,1 0 2 16,3-2-1-16,1 3 1 0,0 1 0 0,1 5 1 15,2-1 0-15,-2-1 2 0,5-1 0 0,-1 4 2 16,-1 0-4-16,2 2 3 0,-2 1-4 0,-2 3 1 0,0 0-1 15,-3 3 0-15,-4-1 2 0,-3 4-3 16,0 0 6-16,-4 0-5 0,2 2 4 0,-4 1-1 0,2 1-3 16,-3 1 2-16,-1 0-1 0,-2 3-3 0,-4 1 3 15,0 1-1-15,-3 3 3 0,-7-3-6 0,1 4 4 16,-5 3-4-16,1-3 8 0,0 4-1 0,-3 1-6 16,2 6 2-16,4 7-2 0,2 8 13 0,2 4 5 15,3-5 2-15,2-2 10 0,6-3-5 0,3-4-3 0,6 0 0 16,2-3-9-16,7-4-4 0,2 0 3 0,6-5-5 15,5-2 2-15,4-3-7 0,4-3 2 0,-3-2-2 16,-5-3-1-16,-5 0-40 0,-4-5-14 0,-2 0-15 16,0 0-126-16,-1 2-108 0,-5-1 11 0,-2-1-41 15,-3 0 335-15</inkml:trace>
  <inkml:trace contextRef="#ctx0" brushRef="#br0" timeOffset="2081.65">5725 4530 1067 0,'-4'0'109'0,"4"-2"243"16,0 2-245-16,3-1 25 0,-1 0-1 0,1 2 9 0,-3-1 1 0,1 0-19 0,5 3-5 0,-4 0-5 0,0 3-24 0,0 1-18 16,-5 1-2-16,-3 3-6 0,3 0-3 0,1 5-11 15,-6 4 0-15,3 6-4 0,-1 9-11 0,-1 6-3 16,-1 4 0-16,4 3-3 0,-1-1-11 0,-1-8 5 15,6 0-5-15,0-5 4 0,3-2-11 0,11-1 2 16,2-2 0-16,8-4 0 0,-3-4-2 0,4-4-3 16,-5-5-2-16,6-3 1 0,2-4 5 0,-1-5-9 15,2 0-5-15,-7-2-6 0,-4-1-56 0,-5 1-98 16,-4 1-10-16,-4 0-32 0,-3-2-93 0,-1 4-54 0,-2-1 171 16</inkml:trace>
  <inkml:trace contextRef="#ctx0" brushRef="#br0" timeOffset="2466.33">6363 4784 1710 0,'6'2'52'0,"-2"0"-13"15,4-2 7-15,-6 0 63 0,-1-2-8 0,3 2 21 16,-1-2-39-16,-3 0-37 0,3 2 3 0,-3 0-12 15,0 0 6-15,-2-3-10 0,-3 3 0 0,3 2-4 16,-2-2-11-16,0 5 17 0,2 0 1 0,-4 4 6 16,4 1-7-16,1 2-2 0,-2 0-13 0,1 2 9 15,1 4-11-15,0 2-5 0,0 1 1 0,0 4-3 16,2 1-7-16,-1 0 4 0,2-2-6 0,3-2 3 0,-1-3-8 16,4-1 3-16,5-4 4 0,-2-5-2 15,3-5 1-15,2-9-1 0,1-4-1 0,0-6 1 0,1-3-9 16,-3-5 7-16,0-4 0 0,-1-5 3 0,-3-3 1 15,-1-4 4-15,-2-4-8 0,-4 2 6 0,-4 0-9 16,-4 3 3-16,-4 2 2 0,-5 7 2 0,-1 3 10 16,-3 11-11-16,-1 10 4 0,-1 6-7 0,0 9 3 0,1 12-7 15,-3 2-9-15,4 6-3 0,0-1-59 0,1-3-56 16,2-1-6-16,3-11-20 0,5-3-68 0,2-9-39 16,8-3 123-16</inkml:trace>
  <inkml:trace contextRef="#ctx0" brushRef="#br0" timeOffset="2914.13">7158 4407 1251 0,'2'0'157'0,"-3"-2"-63"16,1-1 0-16,-1 3-14 0,1-4 33 0,-2-1 3 15,4 1 1-15,-4-3-2 0,-1 4-12 0,2-1-21 0,-5-1 6 16,5 2-8-16,-2 0 10 0,-5 2-13 0,1-1 4 16,-2 2-6-16,-1 0 1 0,0 2-16 0,-1-1-4 15,-3 7-3-15,1 0-16 0,-1 1 2 0,3 1-1 16,0 2 1-16,1-1-12 0,0 2-12 0,-1 0 0 16,-3 3-5-16,1 1-3 0,-1 0 0 0,1 4-4 15,-1 4 3-15,2 7-6 0,2 9-1 0,-3 7-1 16,5 10 0-16,2-3 4 0,3-3-4 0,8-5 4 0,1-12-3 15,3-3 6-15,3-9-5 0,0-5-1 0,5-4-1 16,3-1 2-16,-1-6 0 0,2-1 1 0,-1-3-1 16,0-3-7-16,0 0 7 0,2-5 0 0,-4-4 1 15,-4 0-3-15,1-2 6 0,-3 0-6 0,-4-2 6 16,0-2-4-16,-5-2-4 0,-1-2 8 0,2-2-7 16,-4 1 9-16,-1 2-1 0,1 0-6 0,0 0 3 15,0 1-8-15,2 8 13 0,4-1 2 0,3 5 4 16,4 4-2-16,3 1-4 0,-1 2 0 0,6 5-1 15,-2-2 0-15,3 4-7 0,4 0 1 0,-1-1-4 16,-2 0-16-16,-2-2-151 0,-2-3 4 0,-2-1-61 16,-3-2-94-16</inkml:trace>
  <inkml:trace contextRef="#ctx0" brushRef="#br0" timeOffset="5299.06">1020 3568 1333 0,'-5'-8'362'0,"2"0"-275"0,1 0-68 0,2 1-7 0,1 2 48 0,2-2-1 0,3 2-4 0,1-2 1 0,4-1-9 15,-1 1 13-15,4-1-2 0,2 2 4 0,2 1-21 0,2-2-14 16,4 3 0-16,5 0-4 0,1 1 1 0,5 0-3 16,-2-1-1-16,4 0-1 0,-2 2-3 0,4-3-8 15,1 0 1-15,-2-1-5 0,2-3 1 0,-4 3-7 16,4-2 2-16,5 1-5 0,6-1 2 0,7 2 3 16,3-2 0-16,-4 2 1 0,-4-2-2 0,-7 1 3 15,-1 0-2-15,0 0 2 0,2 2 1 0,5 1-3 16,7 1 2-16,-2 5-2 0,3-1-1 0,-8 7 1 15,-2 1 0-15,-3-1 1 0,-3 1 0 0,-2 2 5 16,2 1-9-16,5-1 7 0,-1 0-4 0,6 0-4 16,-2-2 7-16,1-1-6 0,-1-1 4 0,-3-3 4 15,-3 0-8-15,0-1 6 0,5-3-5 0,4 0-1 16,8 0 4-16,-2 0-2 0,-1 0-2 0,-6 0 2 0,-7 1 2 16,-1 3 0-16,-1 0 6 0,1 1-5 0,5 1-1 15,6 0-1-15,-1 2-7 0,-1 1 5 0,0-1 1 16,-8-2 1-16,-1 1 4 0,-1 0 0 0,-2-2-6 15,3 1 3-15,6-3-1 0,4 1-3 0,0-2 4 16,0-2-3-16,-2 2 4 0,-7-3-3 0,1-2 1 16,-5-2-2-16,1 0 2 0,2 0 3 0,3 2-1 0,5-2 2 15,1 3-9-15,-1-1 4 0,-1 1 1 0,-5 0 0 16,-2 0 1-16,-1 2-1 0,-2 0 0 0,1 0 1 16,3 0 2-16,6 1-4 0,-5-2 3 0,8 1-2 15,-7 0-1-15,-5 0 0 0,3 0 0 0,-9-2 1 16,2 0 8-16,0 1-11 0,5-2 3 0,0 2-6 15,6-1 9-15,-1 2-4 0,-1 0 0 0,-2 0-3 0,-6 0 5 16,1 2 2-16,-3-1-4 0,-1 2 2 0,-1-1 0 16,3-1-1-16,2 5 2 0,3-3-2 0,7 1 0 15,-2-1 0-15,-6-1 0 0,0 0 0 0,-7 0-1 16,-2 2 1-16,2-1 0 0,-3 3 0 0,2-1-2 0,-1 1 5 16,6-3-1-16,4 3 4 0,1 0 5 0,0-1-6 15,-1 1-2-15,-7-2-2 0,0 2 5 0,-2-4-1 16,-3 3 2-16,3-1-3 0,-5-4-4 0,2 1 3 15,-1 0 2-15,2-2 0 0,3 1-1 0,2-1 2 16,5-3-1-16,-1 1 2 0,-3-2 0 0,-2 2-1 16,-2 0-6-16,-1 0 5 0,-3 2 2 0,-1 0-7 15,2-1 4-15,-4 0-5 0,1 2 3 0,1 0-1 16,4 2 3-16,2 1-3 0,-1-3-4 0,1 0 5 16,-4 0-7-16,-4 0 7 0,0 0 0 0,-1 0-3 15,-3-1 2-15,-1-1-3 0,-1 1 2 0,-1 0-2 0,0 1 4 16,0 1-2-16,-1 0 9 0,0 1-6 0,0-1 7 15,1 1-4-15,0 2 10 0,2 3 1 0,-3-1-8 16,4 4 7-16,-4-1-6 0,2 1 0 0,-7-1 4 16,5 0-3-16,-3 2 4 0,-2-2-6 0,5 3 7 15,-8-4-5-15,3 2 10 0,-3-1-1 0,-1-4 0 0,0 4 0 16,-1-1-5-16,1 1 2 0,1 1-5 0,-1 0 3 16,-2 1-8-16,0 3 2 0,2 0-2 0,-4 3 3 15,0-1-2-15,0 2 0 0,0-1 0 0,-1 1-1 16,1 3-5-16,-1 1 1 0,-3 3 0 0,1 1-1 15,-2 4 3-15,0 6-4 0,0 2-1 0,-2 3 0 16,-1 5 2-16,0 2-2 0,-3-1 3 0,0 0-3 16,-1-1 12-16,0-2-4 0,2-1 5 0,0 3-2 15,-2-5 16-15,1 2-7 0,0 0 0 0,-2-3-4 16,1 3-7-16,0-3 1 0,0-1-1 0,0-4 2 0,1-3-2 16,0-1-6-16,-1-3 3 0,0 2-4 0,0-2 8 15,3 1-10-15,0 0 4 0,0-4-4 0,1-2 1 0,0-1 1 16,-1 0-3-16,1-3 1 0,0 3 0 0,0-3 0 15,1-4-1-15,-1 2 1 0,0-6-2 0,-2 2-2 16,0-3 4-16,-3-2-2 0,3 5 11 0,-2-2-11 16,1 1 5-16,0-2-7 0,-3-2 5 0,-1 1 1 15,2-3 0-15,-2 2 0 0,-2 0-1 0,0 1-1 16,-3 0-2-16,-2-1 1 0,1 1 1 0,-4 2-2 16,0-1 4-16,-2 0-2 0,2 3 3 0,0-1-1 15,-2 2-1-15,-3 0 0 0,-3 2 2 0,-4 0-1 16,1 0-1-16,1 4 1 0,-2-4 0 0,2 1 3 15,0-1 3-15,0 2 0 0,0 2-1 0,-5-2 1 16,2 1-6-16,-3 2 4 0,0-1-5 0,-3 3 6 16,2 1 3-16,-9-1 0 0,1 1-5 0,-1 3 4 0,-4-1-6 15,9-2 5-15,0 1-3 0,4-5 3 0,-1 1 4 16,0-4-2-16,4 0 9 0,-1-2-7 0,1 2 1 16,0-5-2-16,-7-3-1 0,3-4-7 0,-1 0-1 15,-3-1-2-15,6-2 7 0,0-1-7 0,2-1 2 16,-1 0-4-16,1 0 2 0,-1 0 1 0,-1 0-2 0,2 0 1 15,-3-2 4-15,-1-1-8 0,-3-2 8 0,-7-2-9 16,-1 3 2-16,-3-1 9 0,4-3-7 0,4 4 6 16,0-2-10-16,3-1 3 0,0 2 2 0,-2-1 0 15,-2 1 0-15,-7 0 1 0,-3 1-2 0,-5 0 1 16,-3 4 1-16,6-1 1 0,-1 2-2 0,6 4 1 16,0-2-5-16,-8 2 4 0,-1-2 0 0,-9 5 1 15,-1 0 4-15,1 0-10 0,2-1 8 0,3 2-8 0,1-2 6 16,-3 2 1-16,-2-1-4 0,-8 1 2 0,1 3 4 15,3-6-3-15,2 5-1 0,5-2 0 0,-2-6-2 16,-7 5 0-16,-3-4 3 0,1 4-1 0,-1-2-4 0,8 8 5 16,-3-4-2-16,1-1 3 0,-2 4 3 0,-11-4-6 15,9 4 0-15,-1 0-4 0,4-4 5 0,6 1 5 16,-5-1-5-16,-3-3 3 0,-2-1-6 0,1-2 2 16,3-1 3-16,8 2-1 0,3 0-6 0,-3-3 5 15,-1-2-2-15,-5-7 5 0,0 1 4 0,6 3-9 16,3-1 2-16,5 2-4 0,1-2 6 0,-2 1-2 15,-1-2 0-15,-3 2-1 0,-2-1 5 0,-1 1-6 16,2-1 6-16,6 2-7 0,4 2 3 0,3-4 1 16,-1 2-1-16,0-4 3 0,-4-1-3 0,-3 2 8 0,6-5-5 15,-2-1 8-15,6 0-9 0,6-3 0 0,1 2-1 16,3-1 1-16,0 2-2 0,0 2 1 16,-1 2 0-16,-1-2 0 0,1 4-6 0,-2 1 7 0,-1-2-5 15,-1 6 6-15,-1-3-6 0,3 5 0 0,4 1 3 16,0 2 0-16,4 1 7 0,1-1-8 0,0 3 1 15,3 0-3-15,-4 0 4 0,-1 0-2 0,1 0 3 0,1 2-3 16,4-2 4-16,-2 3 1 0,6-7-3 0,-2 0 2 16,3 3-6-16,3-10 3 0,-1 4 0 0,1 0 2 15,-1-2-2-15,4 5 4 0,-2-3-4 0,0 0 6 16,3 3-8-16,-1-2 1 0,1 1-1 0,2 3 2 16,-2-3 3-16,3-1-2 0,-2 2-1 0,1-2-1 15,2-1-4-15,0 1 5 0,1 0 2 0,3-1-1 16,1-3-4-16,0-4 1 0,3 0 0 0,-2-4 2 15,1 0 4-15,1-2-5 0,1-2 1 0,0-2-4 16,0 0 4-16,2-2 1 0,1-1 0 0,-1-1 1 0,2-2 3 16,-1-1-4-16,1-2-1 0,1-5 0 0,2-2 0 15,1-7-3-15,0-3 3 0,-2-6-2 0,2-4 2 0,-2-6 1 16,1-4-2-16,-2 0 2 0,2-3-1 0,1-6 3 16,1-4 2-16,3-8-1 0,2-3-1 0,-1-2-5 15,3-1 0-15,1-5-1 0,0-4 6 0,4-3-3 16,0-1 1-16,-1 4-2 0,3-1-4 0,-9-5 0 15,1 4-7-15,-1 2 1 0,-3 4-35 0,-3 7-55 16,-6 1-8-16,-2 2-18 0,-3 9-57 0,-6 6-106 16,2 10-16-16,-9 3-42 0,0 4 350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159" units="cm"/>
          <inkml:channel name="Y" type="integer" max="1885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999.96686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7-03T21:37:27.9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1989 3954 785 0,'0'-7'456'0,"-1"-1"-254"0,1 2 135 0,1-2-209 0,1-1-3 0,0 0-16 0,0 0-3 0,1 0-7 0,-1 1-23 0,1-1 2 0,0-3-6 16,-3 3 4-16,1-1-19 0,-1 2 3 0,-1 0-4 16,-1 2 3-16,0 2-6 0,0 2-3 0,0-1-2 15,1 4-2-15,-2 1-16 0,-1 2-5 0,0-1-2 16,1 1 0-16,-1 0 3 0,-1 0-2 0,2 4 0 16,-2-3-1-16,1 4-4 0,2 1-1 0,-1-1-2 0,0 2 0 15,2 2-4-15,1-1-1 0,-2 4 0 0,2 2-1 16,1 1-2-16,1-1 1 0,-1 5 1 0,0 3-1 15,1 3 2-15,0 2-1 0,-1 4-1 0,-1 6 0 16,-3 5 2-16,0 4-1 0,-3 0-2 0,2-3 1 16,-2-1 5-16,1-2 0 0,-1 4 5 0,-1 0-5 15,1 3 7-15,-3 7-3 0,0-1-2 0,1 2 1 16,0 0-3-16,1-7-2 0,2 1 2 0,-4-3-3 16,5-2-4-16,3 0 5 0,2-2-7 0,7-4 5 15,-3-3-7-15,1-7 0 0,-2-2 3 0,2-3-2 16,2-4-4-16,-3-5-3 0,4-1 6 0,-4-3-4 15,2-3 3-15,1 0 1 0,-2-2-5 0,0 0 3 16,1-3-2-16,-1 2 4 0,-2-2-4 0,0-1 3 0,0-1-7 16,-1-1 6-16,0-2 3 0,1 0 0 15,1-1-4-15,0 1 1 0,1-1 0 0,-1-1 0 0,3-1-1 16,1-1 0-16,3 0-1 0,0-2 1 0,1 0 2 16,5 0-2-16,4-1 0 0,5-1-2 0,5-2-1 15,4 0 6-15,3 0-2 0,1-1 4 0,-1-3-5 0,1 1-3 16,-2-4 3-16,0-2-4 0,-1-2 2 15,-4-2 9-15,1-5-6 0,1 2 7 0,0-1-9 0,-4-4 1 16,3 5-1-16,-4-3 1 0,1 0-10 0,-1 5 7 16,-4-2 2-16,-5 0 0 0,-5-1 0 0,-5 3 4 15,-3-1-7-15,0 1 5 0,-4 0-7 0,-2 1 0 16,-3-3 1-16,-5-1-2 0,0-3-1 0,-10-1 2 16,2-2 3-16,-7 5 0 0,-6-1 0 0,-3 8 2 15,-4 5-5-15,1 4 4 0,2 4-2 0,4 5 3 16,5 2 1-16,5 3 0 0,1 5-5 0,4 5 5 15,0-3 1-15,2 4 1 0,2 7-2 0,0-9 2 16,1 5-5-16,2-3 4 0,1-5-2 0,3-2 0 16,0-4 1-16,1 1-1 0,0-4-3 0,0 0 1 15,1 0-3-15,2 2 3 0,0-2 3 0,1 0-5 16,3-2 5-16,1-2-5 0,1 1 8 0,1-5-4 0,1 0 4 16,1 1-5-16,3-2 3 0,3 2-4 15,0-1 1-15,6 1-2 0,1 0 13 0,5-5-7 16,2 0 1-16,5-1-3 0,-2 0-5 0,5-4 5 0,-2-3-4 15,-3-4 4-15,1 4 3 0,-3 0-3 0,1 1 0 16,-4 0-1-16,-1-2-3 0,3 0 5 0,2 0 2 16,-1-1 1-16,-2 1-3 0,-5 1 2 0,-3 4-6 15,-11 3 3-15,-4-2-3 0,-1 1 5 0,-11-1 1 16,3-1 1-16,1 3-9 0,-8-5 5 0,7-2 0 16,-10-3 2-16,-5 0 0 0,0 1-1 0,-7 1-3 0,0 6 2 15,-1-2 0-15,-3 3-3 0,-2-1 3 0,-3-2-2 16,-4 3 3-16,-4-3 2 0,-10 0-3 0,-6 0 0 15,-9-4-8-15,-8 4 8 0,4-3-4 0,1 0 4 16,11 2-11-16,9 1-2 0,-3 3 3 0,3 6-1 16,-3 5 8-16,-5 5-3 0,6 7 5 0,-1 7-4 15,5 1 5-15,10 4 0 0,5-1-3 0,6-2 3 16,4-2-3-16,6 0-17 0,3-2-7 0,3 1-7 16,2-4-53-16,4-1-88 0,4 2-2 0,2 1-32 15,5-4-48-15,3 3-67 0,4-3 32 0,3-2-39 16,1 3 331-16</inkml:trace>
  <inkml:trace contextRef="#ctx0" brushRef="#br0" timeOffset="647.44">3368 5097 1194 0,'-13'15'200'0,"2"-1"-131"0,0 2 5 0,0-1 1 0,6 3 32 0,-4-7-11 0,2 1 1 0,4-2-6 0,-4-6-6 0,5 1-10 0,1 0-6 0,1-5-2 16,4 2-32-16,2-2-10 0,-3-12-2 0,6 2-2 16,-1-9 3-16,5-5-8 0,3 3 5 0,-2-9-7 15,1 3 2-15,-2-1 7 0,3-2-5 0,-3-4 6 16,3 0-6-16,-3-3 0 0,1-4 1 0,2-11-2 16,-1-7-4-16,1-3 1 0,-2-2 2 0,-2 7-2 15,0 7-2-15,1 7-7 0,-1-2 2 0,-2-1-3 16,1-4-4-16,-2-2 9 0,1 2-3 0,-2 4 8 15,0 8-2-15,1 12-1 0,-3 4-4 0,-3 6 2 16,0 6-4-16,-3 4-2 0,5 3 3 0,-3 2-3 16,-2 1-6-16,1 4 10 0,-2 5-6 0,2 7 9 15,6 9-10-15,-1 9 0 0,4 3 0 0,-5 10 1 16,-4 0 9-16,5 2-10 0,-4-1 5 0,8-2-7 16,3 3 0-16,1 6 0 0,-2 10-2 0,-3 11 2 0,1 4 6 15,0-5-25-15,0-9 2 0,-1-12-14 0,3-4-21 16,-2-5-48-16,2-6 6 0,0 4-22 0,-4-7-22 15,2-6-36-15,2-2 6 0,-4-11-13 0,1-3 11 16</inkml:trace>
  <inkml:trace contextRef="#ctx0" brushRef="#br0" timeOffset="831.4">3562 4856 2010 0,'0'0'60'0,"0"-1"43"15,2 0-6-15,2-3 17 0,2 0-13 0,2-3-27 16,5-2-3-16,3-2-8 0,3-2-23 0,4-3-21 16,0-1 1-16,2 1-8 0,4 0-8 0,2 6-7 15,-1 3-11-15,1 5-5 0,-5 3-94 0,1 5-111 16,-1 5-23-16,-5-2-31 0,1 2-131 0</inkml:trace>
  <inkml:trace contextRef="#ctx0" brushRef="#br0" timeOffset="1101.52">4456 4450 1369 0,'0'-5'225'0,"-2"1"-99"0,-4-1 52 15,-1 1-114-15,-1 0 68 0,-2 1-17 0,-4-2 2 16,-2 1-15-16,-3 4-54 0,-6-2 3 0,0 4 0 15,-2 3 2-15,2 2-8 0,-6 4-17 0,3 3-1 16,0 2-4-16,2 5-2 0,7 2-2 0,2 3-2 16,5 7 2-16,4 5-2 0,6 10-13 0,5 7 4 15,7 1-7-15,7-3 12 0,5-14-9 0,8-3 3 0,-1-10-6 16,4-5-1-16,-2-7 0 0,2-5-4 0,3-5 0 16,-3-2-42-16,1-2-92 0,-4-3-5 0,-4-3-39 15,0-1-131-15</inkml:trace>
  <inkml:trace contextRef="#ctx0" brushRef="#br0" timeOffset="1680.37">4764 4431 1264 0,'7'-5'204'0,"-7"1"-60"0,0 0 61 0,-1 2-147 0,-1 0 54 15,2 0 20-15,0 2-9 0,-3 1 6 0,3 0-60 0,-1 2-12 16,-2 1-5-16,-1 2 0 0,2 2-4 16,-3 1-18-16,5 2 3 0,6 6-8 0,-7-3-7 0,5 4-1 15,-3 2-5-15,-2 4 1 0,2 2-8 0,0 4-1 16,3 7 0-16,1 4-2 0,0 1-3 0,-2-2 4 16,4-3-3-16,1-8 4 0,-2-3-4 0,-1-7-3 15,2-3 7-15,-4-4-6 0,6-3 3 0,4-1-1 16,0-2-3-16,-1-2 2 0,-1-2 8 0,-3-2-8 15,-1 0 1-15,2-3-3 0,-2-2 5 0,-3-3-3 16,3 1-1-16,-3-4-1 0,4 1 1 0,-1-1-1 16,-1-5 0-16,0-2-2 0,0-3-3 0,2 0 9 15,0-3 0-15,0-2 3 0,-2 0-4 0,2 1 0 16,-2 2 0-16,2 4 0 0,1-1-2 0,1 0 2 16,3-2-1-16,1 3 1 0,0 1 0 0,1 5 1 15,2-1 0-15,-2-1 2 0,5-1 0 0,-1 4 2 16,-1 0-4-16,2 2 3 0,-2 1-4 0,-2 3 1 0,0 0-1 15,-3 3 0-15,-4-1 2 0,-3 4-3 16,0 0 6-16,-4 0-5 0,2 2 4 0,-4 1-1 0,2 1-3 16,-3 1 2-16,-1 0-1 0,-2 3-3 0,-4 1 3 15,0 1-1-15,-3 3 3 0,-7-3-6 0,1 4 4 16,-5 3-4-16,1-3 8 0,0 4-1 0,-3 1-6 16,2 6 2-16,4 7-2 0,2 8 13 0,2 4 5 15,3-5 2-15,2-2 10 0,6-3-5 0,3-4-3 0,6 0 0 16,2-3-9-16,7-4-4 0,2 0 3 0,6-5-5 15,5-2 2-15,4-3-7 0,4-3 2 0,-3-2-2 16,-5-3-1-16,-5 0-40 0,-4-5-14 0,-2 0-15 16,0 0-126-16,-1 2-108 0,-5-1 11 0,-2-1-41 15,-3 0 335-15</inkml:trace>
  <inkml:trace contextRef="#ctx0" brushRef="#br0" timeOffset="2081.65">5725 4530 1067 0,'-4'0'109'0,"4"-2"243"16,0 2-245-16,3-1 25 0,-1 0-1 0,1 2 9 0,-3-1 1 0,1 0-19 0,5 3-5 0,-4 0-5 0,0 3-24 0,0 1-18 16,-5 1-2-16,-3 3-6 0,3 0-3 0,1 5-11 15,-6 4 0-15,3 6-4 0,-1 9-11 0,-1 6-3 16,-1 4 0-16,4 3-3 0,-1-1-11 0,-1-8 5 15,6 0-5-15,0-5 4 0,3-2-11 0,11-1 2 16,2-2 0-16,8-4 0 0,-3-4-2 0,4-4-3 16,-5-5-2-16,6-3 1 0,2-4 5 0,-1-5-9 15,2 0-5-15,-7-2-6 0,-4-1-56 0,-5 1-98 16,-4 1-10-16,-4 0-32 0,-3-2-93 0,-1 4-54 0,-2-1 171 16</inkml:trace>
  <inkml:trace contextRef="#ctx0" brushRef="#br0" timeOffset="2466.33">6363 4784 1710 0,'6'2'52'0,"-2"0"-13"15,4-2 7-15,-6 0 63 0,-1-2-8 0,3 2 21 16,-1-2-39-16,-3 0-37 0,3 2 3 0,-3 0-12 15,0 0 6-15,-2-3-10 0,-3 3 0 0,3 2-4 16,-2-2-11-16,0 5 17 0,2 0 1 0,-4 4 6 16,4 1-7-16,1 2-2 0,-2 0-13 0,1 2 9 15,1 4-11-15,0 2-5 0,0 1 1 0,0 4-3 16,2 1-7-16,-1 0 4 0,2-2-6 0,3-2 3 0,-1-3-8 16,4-1 3-16,5-4 4 0,-2-5-2 15,3-5 1-15,2-9-1 0,1-4-1 0,0-6 1 0,1-3-9 16,-3-5 7-16,0-4 0 0,-1-5 3 0,-3-3 1 15,-1-4 4-15,-2-4-8 0,-4 2 6 0,-4 0-9 16,-4 3 3-16,-4 2 2 0,-5 7 2 0,-1 3 10 16,-3 11-11-16,-1 10 4 0,-1 6-7 0,0 9 3 0,1 12-7 15,-3 2-9-15,4 6-3 0,0-1-59 0,1-3-56 16,2-1-6-16,3-11-20 0,5-3-68 0,2-9-39 16,8-3 123-16</inkml:trace>
  <inkml:trace contextRef="#ctx0" brushRef="#br0" timeOffset="2914.13">7158 4407 1251 0,'2'0'157'0,"-3"-2"-63"16,1-1 0-16,-1 3-14 0,1-4 33 0,-2-1 3 15,4 1 1-15,-4-3-2 0,-1 4-12 0,2-1-21 0,-5-1 6 16,5 2-8-16,-2 0 10 0,-5 2-13 0,1-1 4 16,-2 2-6-16,-1 0 1 0,0 2-16 0,-1-1-4 15,-3 7-3-15,1 0-16 0,-1 1 2 0,3 1-1 16,0 2 1-16,1-1-12 0,0 2-12 0,-1 0 0 16,-3 3-5-16,1 1-3 0,-1 0 0 0,1 4-4 15,-1 4 3-15,2 7-6 0,2 9-1 0,-3 7-1 16,5 10 0-16,2-3 4 0,3-3-4 0,8-5 4 0,1-12-3 15,3-3 6-15,3-9-5 0,0-5-1 0,5-4-1 16,3-1 2-16,-1-6 0 0,2-1 1 0,-1-3-1 16,0-3-7-16,0 0 7 0,2-5 0 0,-4-4 1 15,-4 0-3-15,1-2 6 0,-3 0-6 0,-4-2 6 16,0-2-4-16,-5-2-4 0,-1-2 8 0,2-2-7 16,-4 1 9-16,-1 2-1 0,1 0-6 0,0 0 3 15,0 1-8-15,2 8 13 0,4-1 2 0,3 5 4 16,4 4-2-16,3 1-4 0,-1 2 0 0,6 5-1 15,-2-2 0-15,3 4-7 0,4 0 1 0,-1-1-4 16,-2 0-16-16,-2-2-151 0,-2-3 4 0,-2-1-61 16,-3-2-94-16</inkml:trace>
  <inkml:trace contextRef="#ctx0" brushRef="#br0" timeOffset="5299.06">1020 3568 1333 0,'-5'-8'362'0,"2"0"-275"0,1 0-68 0,2 1-7 0,1 2 48 0,2-2-1 0,3 2-4 0,1-2 1 0,4-1-9 15,-1 1 13-15,4-1-2 0,2 2 4 0,2 1-21 0,2-2-14 16,4 3 0-16,5 0-4 0,1 1 1 0,5 0-3 16,-2-1-1-16,4 0-1 0,-2 2-3 0,4-3-8 15,1 0 1-15,-2-1-5 0,2-3 1 0,-4 3-7 16,4-2 2-16,5 1-5 0,6-1 2 0,7 2 3 16,3-2 0-16,-4 2 1 0,-4-2-2 0,-7 1 3 15,-1 0-2-15,0 0 2 0,2 2 1 0,5 1-3 16,7 1 2-16,-2 5-2 0,3-1-1 0,-8 7 1 15,-2 1 0-15,-3-1 1 0,-3 1 0 0,-2 2 5 16,2 1-9-16,5-1 7 0,-1 0-4 0,6 0-4 16,-2-2 7-16,1-1-6 0,-1-1 4 0,-3-3 4 15,-3 0-8-15,0-1 6 0,5-3-5 0,4 0-1 16,8 0 4-16,-2 0-2 0,-1 0-2 0,-6 0 2 0,-7 1 2 16,-1 3 0-16,-1 0 6 0,1 1-5 0,5 1-1 15,6 0-1-15,-1 2-7 0,-1 1 5 0,0-1 1 16,-8-2 1-16,-1 1 4 0,-1 0 0 0,-2-2-6 15,3 1 3-15,6-3-1 0,4 1-3 0,0-2 4 16,0-2-3-16,-2 2 4 0,-7-3-3 0,1-2 1 16,-5-2-2-16,1 0 2 0,2 0 3 0,3 2-1 0,5-2 2 15,1 3-9-15,-1-1 4 0,-1 1 1 0,-5 0 0 16,-2 0 1-16,-1 2-1 0,-2 0 0 0,1 0 1 16,3 0 2-16,6 1-4 0,-5-2 3 0,8 1-2 15,-7 0-1-15,-5 0 0 0,3 0 0 0,-9-2 1 16,2 0 8-16,0 1-11 0,5-2 3 0,0 2-6 15,6-1 9-15,-1 2-4 0,-1 0 0 0,-2 0-3 0,-6 0 5 16,1 2 2-16,-3-1-4 0,-1 2 2 0,-1-1 0 16,3-1-1-16,2 5 2 0,3-3-2 0,7 1 0 15,-2-1 0-15,-6-1 0 0,0 0 0 0,-7 0-1 16,-2 2 1-16,2-1 0 0,-3 3 0 0,2-1-2 0,-1 1 5 16,6-3-1-16,4 3 4 0,1 0 5 0,0-1-6 15,-1 1-2-15,-7-2-2 0,0 2 5 0,-2-4-1 16,-3 3 2-16,3-1-3 0,-5-4-4 0,2 1 3 15,-1 0 2-15,2-2 0 0,3 1-1 0,2-1 2 16,5-3-1-16,-1 1 2 0,-3-2 0 0,-2 2-1 16,-2 0-6-16,-1 0 5 0,-3 2 2 0,-1 0-7 15,2-1 4-15,-4 0-5 0,1 2 3 0,1 0-1 16,4 2 3-16,2 1-3 0,-1-3-4 0,1 0 5 16,-4 0-7-16,-4 0 7 0,0 0 0 0,-1 0-3 15,-3-1 2-15,-1-1-3 0,-1 1 2 0,-1 0-2 0,0 1 4 16,0 1-2-16,-1 0 9 0,0 1-6 0,0-1 7 15,1 1-4-15,0 2 10 0,2 3 1 0,-3-1-8 16,4 4 7-16,-4-1-6 0,2 1 0 0,-7-1 4 16,5 0-3-16,-3 2 4 0,-2-2-6 0,5 3 7 15,-8-4-5-15,3 2 10 0,-3-1-1 0,-1-4 0 0,0 4 0 16,-1-1-5-16,1 1 2 0,1 1-5 0,-1 0 3 16,-2 1-8-16,0 3 2 0,2 0-2 0,-4 3 3 15,0-1-2-15,0 2 0 0,0-1 0 0,-1 1-1 16,1 3-5-16,-1 1 1 0,-3 3 0 0,1 1-1 15,-2 4 3-15,0 6-4 0,0 2-1 0,-2 3 0 16,-1 5 2-16,0 2-2 0,-3-1 3 0,0 0-3 16,-1-1 12-16,0-2-4 0,2-1 5 0,0 3-2 15,-2-5 16-15,1 2-7 0,0 0 0 0,-2-3-4 16,1 3-7-16,0-3 1 0,0-1-1 0,0-4 2 0,1-3-2 16,0-1-6-16,-1-3 3 0,0 2-4 0,0-2 8 15,3 1-10-15,0 0 4 0,0-4-4 0,1-2 1 0,0-1 1 16,-1 0-3-16,1-3 1 0,0 3 0 0,0-3 0 15,1-4-1-15,-1 2 1 0,0-6-2 0,-2 2-2 16,0-3 4-16,-3-2-2 0,3 5 11 0,-2-2-11 16,1 1 5-16,0-2-7 0,-3-2 5 0,-1 1 1 15,2-3 0-15,-2 2 0 0,-2 0-1 0,0 1-1 16,-3 0-2-16,-2-1 1 0,1 1 1 0,-4 2-2 16,0-1 4-16,-2 0-2 0,2 3 3 0,0-1-1 15,-2 2-1-15,-3 0 0 0,-3 2 2 0,-4 0-1 16,1 0-1-16,1 4 1 0,-2-4 0 0,2 1 3 15,0-1 3-15,0 2 0 0,0 2-1 0,-5-2 1 16,2 1-6-16,-3 2 4 0,0-1-5 0,-3 3 6 16,2 1 3-16,-9-1 0 0,1 1-5 0,-1 3 4 0,-4-1-6 15,9-2 5-15,0 1-3 0,4-5 3 0,-1 1 4 16,0-4-2-16,4 0 9 0,-1-2-7 0,1 2 1 16,0-5-2-16,-7-3-1 0,3-4-7 0,-1 0-1 15,-3-1-2-15,6-2 7 0,0-1-7 0,2-1 2 16,-1 0-4-16,1 0 2 0,-1 0 1 0,-1 0-2 0,2 0 1 15,-3-2 4-15,-1-1-8 0,-3-2 8 0,-7-2-9 16,-1 3 2-16,-3-1 9 0,4-3-7 0,4 4 6 16,0-2-10-16,3-1 3 0,0 2 2 0,-2-1 0 15,-2 1 0-15,-7 0 1 0,-3 1-2 0,-5 0 1 16,-3 4 1-16,6-1 1 0,-1 2-2 0,6 4 1 16,0-2-5-16,-8 2 4 0,-1-2 0 0,-9 5 1 15,-1 0 4-15,1 0-10 0,2-1 8 0,3 2-8 0,1-2 6 16,-3 2 1-16,-2-1-4 0,-8 1 2 0,1 3 4 15,3-6-3-15,2 5-1 0,5-2 0 0,-2-6-2 16,-7 5 0-16,-3-4 3 0,1 4-1 0,-1-2-4 0,8 8 5 16,-3-4-2-16,1-1 3 0,-2 4 3 0,-11-4-6 15,9 4 0-15,-1 0-4 0,4-4 5 0,6 1 5 16,-5-1-5-16,-3-3 3 0,-2-1-6 0,1-2 2 16,3-1 3-16,8 2-1 0,3 0-6 0,-3-3 5 15,-1-2-2-15,-5-7 5 0,0 1 4 0,6 3-9 16,3-1 2-16,5 2-4 0,1-2 6 0,-2 1-2 15,-1-2 0-15,-3 2-1 0,-2-1 5 0,-1 1-6 16,2-1 6-16,6 2-7 0,4 2 3 0,3-4 1 16,-1 2-1-16,0-4 3 0,-4-1-3 0,-3 2 8 0,6-5-5 15,-2-1 8-15,6 0-9 0,6-3 0 0,1 2-1 16,3-1 1-16,0 2-2 0,0 2 1 16,-1 2 0-16,-1-2 0 0,1 4-6 0,-2 1 7 0,-1-2-5 15,-1 6 6-15,-1-3-6 0,3 5 0 0,4 1 3 16,0 2 0-16,4 1 7 0,1-1-8 0,0 3 1 15,3 0-3-15,-4 0 4 0,-1 0-2 0,1 0 3 0,1 2-3 16,4-2 4-16,-2 3 1 0,6-7-3 0,-2 0 2 16,3 3-6-16,3-10 3 0,-1 4 0 0,1 0 2 15,-1-2-2-15,4 5 4 0,-2-3-4 0,0 0 6 16,3 3-8-16,-1-2 1 0,1 1-1 0,2 3 2 16,-2-3 3-16,3-1-2 0,-2 2-1 0,1-2-1 15,2-1-4-15,0 1 5 0,1 0 2 0,3-1-1 16,1-3-4-16,0-4 1 0,3 0 0 0,-2-4 2 15,1 0 4-15,1-2-5 0,1-2 1 0,0-2-4 16,0 0 4-16,2-2 1 0,1-1 0 0,-1-1 1 0,2-2 3 16,-1-1-4-16,1-2-1 0,1-5 0 0,2-2 0 15,1-7-3-15,0-3 3 0,-2-6-2 0,2-4 2 0,-2-6 1 16,1-4-2-16,-2 0 2 0,2-3-1 0,1-6 3 16,1-4 2-16,3-8-1 0,2-3-1 0,-1-2-5 15,3-1 0-15,1-5-1 0,0-4 6 0,4-3-3 16,0-1 1-16,-1 4-2 0,3-1-4 0,-9-5 0 15,1 4-7-15,-1 2 1 0,-3 4-35 0,-3 7-55 16,-6 1-8-16,-2 2-18 0,-3 9-57 0,-6 6-106 16,2 10-16-16,-9 3-42 0,0 4 350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5ED88-EC83-96AA-24CD-26782DA9B4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022818-5968-37DB-3EEA-98FD040F27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0F04D-4879-0B97-0CA6-B9278896A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57E06-9CAB-4052-907C-EF9450468095}" type="datetimeFigureOut">
              <a:rPr lang="en-US" smtClean="0"/>
              <a:t>9/2/2024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5E8D8-7461-C2EB-3E5A-A5011B28A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8F5D0-8799-107D-8EA5-59C6978E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5020A-AF68-4C11-A857-D568DF3AD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43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9BE73-9C20-9E46-972C-4D279E84A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C055C-87FC-797D-8CDB-C8BD6A9C9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129BA-31B4-8C8B-64EF-C8CAC5290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57E06-9CAB-4052-907C-EF9450468095}" type="datetimeFigureOut">
              <a:rPr lang="en-US" smtClean="0"/>
              <a:t>9/2/2024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A5DD5-138B-9FA8-0B02-AD2151AD7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C51EF-F834-F8D6-1448-527F33E07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5020A-AF68-4C11-A857-D568DF3AD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89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02F62-2A72-785B-A9D8-D5998F8AC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101E3E-6807-3DE4-59E4-BCE5DD550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FB62E-13CA-B6D1-1DF8-9A1102193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57E06-9CAB-4052-907C-EF9450468095}" type="datetimeFigureOut">
              <a:rPr lang="en-US" smtClean="0"/>
              <a:t>9/2/2024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2FEAD-E7B1-D19D-614C-8901C9B5A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0297F-E840-C086-D7DB-253460414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5020A-AF68-4C11-A857-D568DF3AD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377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B112D-17D7-C754-FC83-71E968547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634A0-CCFC-336D-21AC-1C0872FD96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2702B9-44FD-4AAF-AE0C-0D5B32630C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461989-E37E-5119-8110-31AA5F62D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57E06-9CAB-4052-907C-EF9450468095}" type="datetimeFigureOut">
              <a:rPr lang="en-US" smtClean="0"/>
              <a:t>9/2/2024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7F1151-5867-8C8A-9721-76EF9A39D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BD683-6A8D-3EA3-97B3-5C739E0FC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5020A-AF68-4C11-A857-D568DF3AD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A8CC6-9055-32F9-C64E-23DA8F8D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E479BB-1E18-D3E2-D9FF-D63ACA4BF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DCAE4B-837B-4C46-224B-AA76CD0D4C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D3CB32-5D30-61C1-AAF6-08ADD39A99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82D59C-5EEA-4ACE-56A2-47183AC537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FD0B46-DFED-3E79-5F9D-5D9B6BB8A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57E06-9CAB-4052-907C-EF9450468095}" type="datetimeFigureOut">
              <a:rPr lang="en-US" smtClean="0"/>
              <a:t>9/2/2024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8CF3DD-7C38-1A95-E371-719077FA9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9ECAAE-EC59-71DB-EEAD-6A096F5B2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5020A-AF68-4C11-A857-D568DF3AD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104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5F4F7-BEFB-78B6-9E2D-FCFBC39B9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C93463-68D3-ECBA-0B5B-7E6B2394A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57E06-9CAB-4052-907C-EF9450468095}" type="datetimeFigureOut">
              <a:rPr lang="en-US" smtClean="0"/>
              <a:t>9/2/2024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EF3641-F4F5-8713-7ABE-8A615A59C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6592C1-FE54-7D46-145E-D53F4A646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5020A-AF68-4C11-A857-D568DF3AD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031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35D3E6-AC0D-5FA6-7E61-D0BCC0507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57E06-9CAB-4052-907C-EF9450468095}" type="datetimeFigureOut">
              <a:rPr lang="en-US" smtClean="0"/>
              <a:t>9/2/2024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A53B30-0D91-2B97-C737-3786EF687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319EFE-0148-4468-59BC-025340600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5020A-AF68-4C11-A857-D568DF3AD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426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1681F-2F91-84B2-6F51-2BFCEA18B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558CD-72C9-BBE6-9237-7DBCBFA35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8C462A-5C1D-891F-11C1-62DD4AC90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F1CA8-3C65-2BAB-A63C-3A3CEBA3D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57E06-9CAB-4052-907C-EF9450468095}" type="datetimeFigureOut">
              <a:rPr lang="en-US" smtClean="0"/>
              <a:t>9/2/2024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C1389F-E02C-399B-3F04-60F5B8267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5CD42-6A52-D2B8-0D50-B481A3275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5020A-AF68-4C11-A857-D568DF3AD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485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1B150-1E80-0056-F217-7A8FDF98D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156863-8C5B-D1DE-C66C-4C22B9A1B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8B866A-A9ED-AB37-333E-9309E950D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A2F202-631B-C4E4-7948-6E848909E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57E06-9CAB-4052-907C-EF9450468095}" type="datetimeFigureOut">
              <a:rPr lang="en-US" smtClean="0"/>
              <a:t>9/2/2024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FF34E-CD8F-6911-6074-5140F3703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BF3DB3-F440-61DC-0E7E-B505A99FF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5020A-AF68-4C11-A857-D568DF3AD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804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067A2-E96B-9EEB-4EA4-5DC5CEF79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D02096-22C3-98D7-C588-63E0654981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923DC-107B-F6EC-0757-20B6892BF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57E06-9CAB-4052-907C-EF9450468095}" type="datetimeFigureOut">
              <a:rPr lang="en-US" smtClean="0"/>
              <a:t>9/2/2024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EB593-B625-5575-0A33-1B9B3F0CF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EE2FD-CEDA-C14D-C59E-CB4A0B740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5020A-AF68-4C11-A857-D568DF3AD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457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3C8290-25D8-2B92-08DB-46065CC7CD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16F9A1-0062-1FD8-0D50-2CD907A0D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4EBFC-1576-FEE2-B09A-ADD59894D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57E06-9CAB-4052-907C-EF9450468095}" type="datetimeFigureOut">
              <a:rPr lang="en-US" smtClean="0"/>
              <a:t>9/2/2024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81586-DE3D-5F5A-B4A7-CF2E96C80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0A28C-1CE4-3C06-B383-32079893E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5020A-AF68-4C11-A857-D568DF3AD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2654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hapter 2: SDLC Processes"/>
          <p:cNvSpPr/>
          <p:nvPr/>
        </p:nvSpPr>
        <p:spPr>
          <a:xfrm>
            <a:off x="-2" y="-42863"/>
            <a:ext cx="12192003" cy="347663"/>
          </a:xfrm>
          <a:prstGeom prst="rect">
            <a:avLst/>
          </a:prstGeom>
          <a:solidFill>
            <a:srgbClr val="D02039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/>
          <a:lstStyle>
            <a:lvl1pPr>
              <a:defRPr sz="1100" i="1"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1100"/>
              <a:t>Chapter 2: SDLC Processes</a:t>
            </a:r>
          </a:p>
        </p:txBody>
      </p:sp>
      <p:sp>
        <p:nvSpPr>
          <p:cNvPr id="24" name="Boston University Slideshow Title Goes Here"/>
          <p:cNvSpPr txBox="1"/>
          <p:nvPr/>
        </p:nvSpPr>
        <p:spPr>
          <a:xfrm>
            <a:off x="812800" y="1524001"/>
            <a:ext cx="10566400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700"/>
              </a:spcBef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1200"/>
              <a:t>Boston University</a:t>
            </a:r>
            <a:r>
              <a:rPr sz="1200" b="0"/>
              <a:t> Slideshow Title Goes Here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79559" y="6283152"/>
            <a:ext cx="468975" cy="34562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26" name="boston_univ_186.pdf" descr="boston_univ_186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77" y="6282135"/>
            <a:ext cx="1031564" cy="347663"/>
          </a:xfrm>
          <a:prstGeom prst="rect">
            <a:avLst/>
          </a:prstGeom>
          <a:ln w="12700">
            <a:miter lim="400000"/>
          </a:ln>
        </p:spPr>
      </p:pic>
      <p:sp>
        <p:nvSpPr>
          <p:cNvPr id="27" name="CS411 Software Engineering"/>
          <p:cNvSpPr txBox="1"/>
          <p:nvPr/>
        </p:nvSpPr>
        <p:spPr>
          <a:xfrm>
            <a:off x="1522174" y="6323839"/>
            <a:ext cx="1885897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defTabSz="914400">
              <a:defRPr sz="1200" b="1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rPr sz="1200"/>
              <a:t>CS411 Software Engineering</a:t>
            </a:r>
          </a:p>
        </p:txBody>
      </p:sp>
      <p:sp>
        <p:nvSpPr>
          <p:cNvPr id="28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499616"/>
            <a:ext cx="10972800" cy="4456933"/>
          </a:xfrm>
          <a:prstGeom prst="rect">
            <a:avLst/>
          </a:prstGeom>
        </p:spPr>
        <p:txBody>
          <a:bodyPr/>
          <a:lstStyle>
            <a:lvl1pPr marL="419100" indent="-342900">
              <a:buClr>
                <a:srgbClr val="D02039"/>
              </a:buClr>
            </a:lvl1pPr>
            <a:lvl2pPr>
              <a:buClr>
                <a:srgbClr val="D02039"/>
              </a:buClr>
              <a:buChar char="-"/>
            </a:lvl2pPr>
            <a:lvl3pPr>
              <a:buClr>
                <a:srgbClr val="D02039"/>
              </a:buClr>
            </a:lvl3pPr>
            <a:lvl4pPr>
              <a:buClr>
                <a:srgbClr val="D02039"/>
              </a:buClr>
            </a:lvl4pPr>
            <a:lvl5pPr>
              <a:buClr>
                <a:srgbClr val="D02039"/>
              </a:buCl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609600" y="541090"/>
            <a:ext cx="10972800" cy="83512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30414685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0FC529-1AE2-2C2F-6DC2-7D9F67DA6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A74053-0CC5-2EB5-C147-2B7B76920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8FD9B-80E8-BBAB-C81B-2809C571D2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57E06-9CAB-4052-907C-EF9450468095}" type="datetimeFigureOut">
              <a:rPr lang="en-US" smtClean="0"/>
              <a:t>9/2/2024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BEE5A-F1CF-8448-82D2-29F6FAC2ED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0B633-B1A5-4C46-C216-A1799CB30D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35020A-AF68-4C11-A857-D568DF3AD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745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illanovau.com/resources/agile/burndown-chart-explanation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oston University Logo, symbol, meaning, history, PNG">
            <a:extLst>
              <a:ext uri="{FF2B5EF4-FFF2-40B4-BE49-F238E27FC236}">
                <a16:creationId xmlns:a16="http://schemas.microsoft.com/office/drawing/2014/main" id="{C6EF9492-144B-2428-9144-DC63EA254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01" y="-406868"/>
            <a:ext cx="4966283" cy="2793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E12A6D-51D3-94CD-C68F-F01678E0CD85}"/>
              </a:ext>
            </a:extLst>
          </p:cNvPr>
          <p:cNvSpPr txBox="1"/>
          <p:nvPr/>
        </p:nvSpPr>
        <p:spPr>
          <a:xfrm>
            <a:off x="1666614" y="2921169"/>
            <a:ext cx="88587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The Software Development Life Cycle</a:t>
            </a:r>
            <a:endParaRPr lang="en-US" sz="4267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288F74-B5A4-F43D-F532-41DA9CE52AB0}"/>
              </a:ext>
            </a:extLst>
          </p:cNvPr>
          <p:cNvSpPr txBox="1"/>
          <p:nvPr/>
        </p:nvSpPr>
        <p:spPr>
          <a:xfrm>
            <a:off x="201338" y="6031684"/>
            <a:ext cx="3884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CS411</a:t>
            </a:r>
          </a:p>
        </p:txBody>
      </p:sp>
    </p:spTree>
    <p:extLst>
      <p:ext uri="{BB962C8B-B14F-4D97-AF65-F5344CB8AC3E}">
        <p14:creationId xmlns:p14="http://schemas.microsoft.com/office/powerpoint/2010/main" val="107339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003185" y="6283152"/>
            <a:ext cx="182217" cy="345629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293" name="A structured set of activities required to develop a  software system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A structured set of activities required to develop a </a:t>
            </a:r>
            <a:br>
              <a:rPr dirty="0"/>
            </a:br>
            <a:r>
              <a:rPr dirty="0"/>
              <a:t>software system. </a:t>
            </a:r>
          </a:p>
          <a:p>
            <a:r>
              <a:rPr dirty="0"/>
              <a:t>Many different software processes but all involve:</a:t>
            </a:r>
          </a:p>
          <a:p>
            <a:pPr marL="774700" lvl="1" indent="-317500">
              <a:spcBef>
                <a:spcPts val="300"/>
              </a:spcBef>
              <a:defRPr sz="2000"/>
            </a:pPr>
            <a:r>
              <a:rPr dirty="0"/>
              <a:t>Specification – defining what the system should do;</a:t>
            </a:r>
          </a:p>
          <a:p>
            <a:pPr marL="774700" lvl="1" indent="-317500">
              <a:spcBef>
                <a:spcPts val="300"/>
              </a:spcBef>
              <a:defRPr sz="2000"/>
            </a:pPr>
            <a:r>
              <a:rPr dirty="0"/>
              <a:t>Design and implementation – defining the organization of the system and implementing the system;</a:t>
            </a:r>
          </a:p>
          <a:p>
            <a:pPr marL="774700" lvl="1" indent="-317500">
              <a:spcBef>
                <a:spcPts val="300"/>
              </a:spcBef>
              <a:defRPr sz="2000"/>
            </a:pPr>
            <a:r>
              <a:rPr dirty="0"/>
              <a:t>Validation – checking that it does what the customer wants;</a:t>
            </a:r>
            <a:endParaRPr lang="en-US" dirty="0"/>
          </a:p>
          <a:p>
            <a:pPr marL="774700" lvl="1" indent="-317500">
              <a:spcBef>
                <a:spcPts val="300"/>
              </a:spcBef>
              <a:defRPr sz="2000"/>
            </a:pPr>
            <a:r>
              <a:rPr lang="en-US" dirty="0"/>
              <a:t>Delivery – releasing to product to the customer</a:t>
            </a:r>
            <a:endParaRPr dirty="0"/>
          </a:p>
          <a:p>
            <a:pPr marL="774700" lvl="1" indent="-317500">
              <a:spcBef>
                <a:spcPts val="300"/>
              </a:spcBef>
              <a:defRPr sz="2000"/>
            </a:pPr>
            <a:r>
              <a:rPr dirty="0"/>
              <a:t>Evolution – changing the system in response to changing customer needs.</a:t>
            </a:r>
          </a:p>
          <a:p>
            <a:r>
              <a:rPr dirty="0"/>
              <a:t>A software process model is an abstract representation of a process. It presents a description of a process from some particular perspective.</a:t>
            </a:r>
          </a:p>
        </p:txBody>
      </p:sp>
      <p:sp>
        <p:nvSpPr>
          <p:cNvPr id="294" name="The software proces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software process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466" name="Software development is a planned activity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Software development is a planned activity</a:t>
            </a:r>
          </a:p>
          <a:p>
            <a:r>
              <a:rPr dirty="0"/>
              <a:t>We use process to both manage the software development lifecycle (SDLC) activities and to improve the process itself</a:t>
            </a:r>
          </a:p>
          <a:p>
            <a:r>
              <a:rPr dirty="0"/>
              <a:t>Each company uses its own SDLC model but all of them are essentially </a:t>
            </a:r>
            <a:r>
              <a:rPr b="1" dirty="0"/>
              <a:t>Define, Design, Develop, Deliver</a:t>
            </a:r>
            <a:r>
              <a:rPr lang="en-US" b="1" dirty="0"/>
              <a:t>, </a:t>
            </a:r>
            <a:r>
              <a:rPr lang="en-US" b="1" strike="sngStrike" dirty="0" err="1"/>
              <a:t>D</a:t>
            </a:r>
            <a:r>
              <a:rPr lang="en-US" b="1" dirty="0" err="1"/>
              <a:t>Maintain</a:t>
            </a:r>
            <a:endParaRPr b="1" dirty="0"/>
          </a:p>
          <a:p>
            <a:r>
              <a:rPr dirty="0"/>
              <a:t>The differences are often of scale and/or concurrency of activities</a:t>
            </a:r>
          </a:p>
        </p:txBody>
      </p:sp>
      <p:sp>
        <p:nvSpPr>
          <p:cNvPr id="467" name="Bottom li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Bottom line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466" name="Software development is a planned activity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Software development is a planned activity</a:t>
            </a:r>
          </a:p>
          <a:p>
            <a:r>
              <a:rPr dirty="0"/>
              <a:t>We use process to both manage the software development lifecycle (SDLC) activities and to improve the process itself</a:t>
            </a:r>
          </a:p>
          <a:p>
            <a:r>
              <a:rPr dirty="0"/>
              <a:t>Each company uses its own SDLC model but all of them are essentially </a:t>
            </a:r>
            <a:r>
              <a:rPr b="1" u="sng" dirty="0"/>
              <a:t>Define</a:t>
            </a:r>
            <a:r>
              <a:rPr b="1" dirty="0"/>
              <a:t>, </a:t>
            </a:r>
            <a:r>
              <a:rPr b="1" u="sng" dirty="0"/>
              <a:t>Design</a:t>
            </a:r>
            <a:r>
              <a:rPr b="1" dirty="0"/>
              <a:t>, Develop, </a:t>
            </a:r>
            <a:r>
              <a:rPr b="1" u="sng" dirty="0"/>
              <a:t>Deliver</a:t>
            </a:r>
            <a:r>
              <a:rPr lang="en-US" b="1" dirty="0"/>
              <a:t>, </a:t>
            </a:r>
            <a:r>
              <a:rPr lang="en-US" b="1" u="sng" strike="sngStrike" dirty="0" err="1"/>
              <a:t>D</a:t>
            </a:r>
            <a:r>
              <a:rPr lang="en-US" b="1" u="sng" dirty="0" err="1"/>
              <a:t>Maintain</a:t>
            </a:r>
            <a:endParaRPr b="1" u="sng" dirty="0"/>
          </a:p>
          <a:p>
            <a:r>
              <a:rPr dirty="0"/>
              <a:t>The differences are often of scale and/or concurrency of activities</a:t>
            </a:r>
          </a:p>
        </p:txBody>
      </p:sp>
      <p:sp>
        <p:nvSpPr>
          <p:cNvPr id="467" name="Bottom li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Bottom line</a:t>
            </a:r>
          </a:p>
        </p:txBody>
      </p:sp>
    </p:spTree>
    <p:extLst>
      <p:ext uri="{BB962C8B-B14F-4D97-AF65-F5344CB8AC3E}">
        <p14:creationId xmlns:p14="http://schemas.microsoft.com/office/powerpoint/2010/main" val="3238570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2C9D5C1-D8A0-042B-01AF-F973A3AC4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81201" y="2895833"/>
            <a:ext cx="5651525" cy="306071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E1B42C-A53A-6337-150A-76C84DE63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98E2E5A-E984-99BD-C968-042FF3E20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7354" y="1367162"/>
            <a:ext cx="6277292" cy="4709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291492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7EC49-4DF6-9E78-9E8C-D3B5C0293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software engineering?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D67A3-9EE9-9F5E-8CA5-FBF5A82FC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r>
              <a:rPr lang="en-US" dirty="0"/>
              <a:t>“A systematic approach to the analysis, design, assessment, implementation, test, maintenance and re-engineering of software, that is, the application of engineering to software.”</a:t>
            </a:r>
          </a:p>
          <a:p>
            <a:r>
              <a:rPr lang="en-US" dirty="0"/>
              <a:t>Software engineering encompasses methodologies and principles related to</a:t>
            </a:r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72B7E14-ADEB-DC57-FBAD-C8638AE36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9750"/>
              </p:ext>
            </p:extLst>
          </p:nvPr>
        </p:nvGraphicFramePr>
        <p:xfrm>
          <a:off x="2856753" y="3702050"/>
          <a:ext cx="81280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4755501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6159483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Conceiving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Building (meh)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948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Communicating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Designing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1494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Specifying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724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Designing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Maintaining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5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3167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003185" y="6283152"/>
            <a:ext cx="182217" cy="3456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  <p:pic>
        <p:nvPicPr>
          <p:cNvPr id="217" name="sony rmvz2200.png" descr="sony rmvz22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61" y="686445"/>
            <a:ext cx="6350001" cy="5295901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940E4A-9F1F-B2F4-13E3-D74331387C10}"/>
              </a:ext>
            </a:extLst>
          </p:cNvPr>
          <p:cNvSpPr txBox="1"/>
          <p:nvPr/>
        </p:nvSpPr>
        <p:spPr>
          <a:xfrm>
            <a:off x="5081726" y="1791213"/>
            <a:ext cx="4583098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trike="sngStrike" dirty="0"/>
              <a:t>Benefits are good. Features with no benefit are actively bad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96CD0A-B934-A308-7FDB-DC4F463009AA}"/>
              </a:ext>
            </a:extLst>
          </p:cNvPr>
          <p:cNvSpPr txBox="1"/>
          <p:nvPr/>
        </p:nvSpPr>
        <p:spPr>
          <a:xfrm>
            <a:off x="5081726" y="2437544"/>
            <a:ext cx="5028432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Software doesn’t make money. </a:t>
            </a:r>
            <a:r>
              <a:rPr lang="en-US" i="1" dirty="0"/>
              <a:t>Deployed artifacts</a:t>
            </a:r>
            <a:r>
              <a:rPr lang="en-US" dirty="0"/>
              <a:t> make money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26401307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396" name="Derived from the work on the UML at Rational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97037" indent="-297037" defTabSz="905255">
              <a:spcBef>
                <a:spcPts val="600"/>
              </a:spcBef>
              <a:defRPr sz="2100"/>
            </a:pPr>
            <a:r>
              <a:t>Derived from the work on the UML at Rational</a:t>
            </a:r>
          </a:p>
          <a:p>
            <a:pPr marL="695106" lvl="1" indent="-242478" defTabSz="905255">
              <a:defRPr sz="2100"/>
            </a:pPr>
            <a:r>
              <a:t>Booch, Jacobson, and Rumbaugh (1999)</a:t>
            </a:r>
          </a:p>
          <a:p>
            <a:pPr marL="297037" indent="-297037" defTabSz="905255">
              <a:spcBef>
                <a:spcPts val="600"/>
              </a:spcBef>
              <a:defRPr sz="2100" b="1">
                <a:latin typeface="Arial"/>
                <a:ea typeface="Arial"/>
                <a:cs typeface="Arial"/>
                <a:sym typeface="Arial"/>
              </a:defRPr>
            </a:pPr>
            <a:r>
              <a:t>4 Phases:</a:t>
            </a:r>
          </a:p>
          <a:p>
            <a:pPr marL="695106" lvl="1" indent="-242478" defTabSz="905255">
              <a:defRPr sz="2100"/>
            </a:pPr>
            <a:r>
              <a:t>Inception</a:t>
            </a:r>
          </a:p>
          <a:p>
            <a:pPr marL="695106" lvl="1" indent="-242478" defTabSz="905255">
              <a:defRPr sz="2100"/>
            </a:pPr>
            <a:r>
              <a:t>Elaboration</a:t>
            </a:r>
          </a:p>
          <a:p>
            <a:pPr marL="695106" lvl="1" indent="-242478" defTabSz="905255">
              <a:defRPr sz="2100"/>
            </a:pPr>
            <a:r>
              <a:t>Construction</a:t>
            </a:r>
          </a:p>
          <a:p>
            <a:pPr marL="695106" lvl="1" indent="-242478" defTabSz="905255">
              <a:defRPr sz="2100"/>
            </a:pPr>
            <a:r>
              <a:t>Transition</a:t>
            </a:r>
          </a:p>
          <a:p>
            <a:pPr marL="297037" indent="-297037" defTabSz="905255">
              <a:spcBef>
                <a:spcPts val="600"/>
              </a:spcBef>
              <a:defRPr sz="2100"/>
            </a:pPr>
            <a:r>
              <a:t>Several 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Iterations </a:t>
            </a:r>
            <a:r>
              <a:t>in each phase</a:t>
            </a:r>
          </a:p>
          <a:p>
            <a:pPr marL="297037" indent="-297037" defTabSz="905255">
              <a:spcBef>
                <a:spcPts val="600"/>
              </a:spcBef>
              <a:defRPr sz="2100"/>
            </a:pPr>
            <a:r>
              <a:t>For each iteration, several parallel activities (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workflows</a:t>
            </a:r>
            <a:r>
              <a:t>)</a:t>
            </a:r>
          </a:p>
        </p:txBody>
      </p:sp>
      <p:sp>
        <p:nvSpPr>
          <p:cNvPr id="397" name="RUP: Rational Unified Proces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RUP: Rational Unified Process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400" name="Incepti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90510" indent="-214310">
              <a:spcBef>
                <a:spcPts val="400"/>
              </a:spcBef>
              <a:defRPr sz="1500"/>
            </a:pPr>
            <a:r>
              <a:t>Inception</a:t>
            </a:r>
          </a:p>
          <a:p>
            <a:pPr marL="640896" lvl="1" indent="-183696">
              <a:spcBef>
                <a:spcPts val="400"/>
              </a:spcBef>
              <a:defRPr sz="1500"/>
            </a:pPr>
            <a:r>
              <a:t>Establish the business case for the system</a:t>
            </a:r>
          </a:p>
          <a:p>
            <a:pPr marL="640896" lvl="1" indent="-183696">
              <a:spcBef>
                <a:spcPts val="400"/>
              </a:spcBef>
              <a:defRPr sz="1500"/>
            </a:pPr>
            <a:r>
              <a:t>Identify actors and initial use cases</a:t>
            </a:r>
          </a:p>
          <a:p>
            <a:pPr marL="640896" lvl="1" indent="-183696">
              <a:spcBef>
                <a:spcPts val="400"/>
              </a:spcBef>
              <a:defRPr sz="1500"/>
            </a:pPr>
            <a:r>
              <a:t>Initial planning, estimation and schedule</a:t>
            </a:r>
          </a:p>
          <a:p>
            <a:pPr marL="290510" indent="-214310">
              <a:spcBef>
                <a:spcPts val="400"/>
              </a:spcBef>
              <a:defRPr sz="1500"/>
            </a:pPr>
            <a:r>
              <a:t>Elaboration</a:t>
            </a:r>
          </a:p>
          <a:p>
            <a:pPr marL="640896" lvl="1" indent="-183696">
              <a:spcBef>
                <a:spcPts val="400"/>
              </a:spcBef>
              <a:defRPr sz="1500"/>
            </a:pPr>
            <a:r>
              <a:t>Understand problem domain</a:t>
            </a:r>
          </a:p>
          <a:p>
            <a:pPr marL="640896" lvl="1" indent="-183696">
              <a:spcBef>
                <a:spcPts val="400"/>
              </a:spcBef>
              <a:defRPr sz="1500"/>
            </a:pPr>
            <a:r>
              <a:t>Requirements model (use case model)</a:t>
            </a:r>
          </a:p>
          <a:p>
            <a:pPr marL="640896" lvl="1" indent="-183696">
              <a:spcBef>
                <a:spcPts val="400"/>
              </a:spcBef>
              <a:defRPr sz="1500"/>
            </a:pPr>
            <a:r>
              <a:t>Overall system architecture</a:t>
            </a:r>
          </a:p>
          <a:p>
            <a:pPr marL="290510" indent="-214310">
              <a:spcBef>
                <a:spcPts val="400"/>
              </a:spcBef>
              <a:defRPr sz="1500"/>
            </a:pPr>
            <a:r>
              <a:t>Construction</a:t>
            </a:r>
          </a:p>
          <a:p>
            <a:pPr marL="640896" lvl="1" indent="-183696">
              <a:spcBef>
                <a:spcPts val="400"/>
              </a:spcBef>
              <a:defRPr sz="1500"/>
            </a:pPr>
            <a:r>
              <a:t>System design, object design, programming and testing</a:t>
            </a:r>
          </a:p>
          <a:p>
            <a:pPr marL="640896" lvl="1" indent="-183696">
              <a:spcBef>
                <a:spcPts val="400"/>
              </a:spcBef>
              <a:defRPr sz="1500"/>
            </a:pPr>
            <a:r>
              <a:t>Develop a working software system ready to deliver to users</a:t>
            </a:r>
          </a:p>
          <a:p>
            <a:pPr marL="290510" indent="-214310">
              <a:spcBef>
                <a:spcPts val="400"/>
              </a:spcBef>
              <a:defRPr sz="1500"/>
            </a:pPr>
            <a:r>
              <a:t>Transition</a:t>
            </a:r>
          </a:p>
          <a:p>
            <a:pPr marL="640896" lvl="1" indent="-183696">
              <a:spcBef>
                <a:spcPts val="400"/>
              </a:spcBef>
              <a:defRPr sz="1500"/>
            </a:pPr>
            <a:r>
              <a:t>Deploy the system in its operating environment.</a:t>
            </a:r>
          </a:p>
        </p:txBody>
      </p:sp>
      <p:sp>
        <p:nvSpPr>
          <p:cNvPr id="401" name="RUP Phas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RUP Phases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410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11" name="RUP Illustrate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RUP Illustrated</a:t>
            </a:r>
          </a:p>
        </p:txBody>
      </p:sp>
      <p:pic>
        <p:nvPicPr>
          <p:cNvPr id="412" name="rup" descr="ru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714500"/>
            <a:ext cx="6781800" cy="4686300"/>
          </a:xfrm>
          <a:prstGeom prst="rect">
            <a:avLst/>
          </a:prstGeom>
          <a:ln w="12700">
            <a:miter lim="400000"/>
          </a:ln>
        </p:spPr>
      </p:pic>
      <p:sp>
        <p:nvSpPr>
          <p:cNvPr id="413" name="Line"/>
          <p:cNvSpPr/>
          <p:nvPr/>
        </p:nvSpPr>
        <p:spPr>
          <a:xfrm>
            <a:off x="2819400" y="1447800"/>
            <a:ext cx="6553200" cy="0"/>
          </a:xfrm>
          <a:prstGeom prst="line">
            <a:avLst/>
          </a:prstGeom>
          <a:ln w="28575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14" name="Time"/>
          <p:cNvSpPr txBox="1"/>
          <p:nvPr/>
        </p:nvSpPr>
        <p:spPr>
          <a:xfrm>
            <a:off x="8839200" y="1143000"/>
            <a:ext cx="390876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914400">
              <a:defRPr sz="1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Time</a:t>
            </a:r>
          </a:p>
        </p:txBody>
      </p:sp>
      <p:sp>
        <p:nvSpPr>
          <p:cNvPr id="415" name="Workflows"/>
          <p:cNvSpPr/>
          <p:nvPr/>
        </p:nvSpPr>
        <p:spPr>
          <a:xfrm>
            <a:off x="2800351" y="2071689"/>
            <a:ext cx="1291059" cy="27699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914400">
              <a:defRPr b="1" u="sng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Workflows  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sp>
        <p:nvSpPr>
          <p:cNvPr id="418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19" name="12"/>
          <p:cNvSpPr txBox="1"/>
          <p:nvPr/>
        </p:nvSpPr>
        <p:spPr>
          <a:xfrm>
            <a:off x="9067800" y="6553200"/>
            <a:ext cx="12954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r" defTabSz="914400">
              <a:defRPr sz="10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12</a:t>
            </a:r>
          </a:p>
        </p:txBody>
      </p:sp>
      <p:sp>
        <p:nvSpPr>
          <p:cNvPr id="420" name="RUP Work Produc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defTabSz="813816">
              <a:defRPr sz="3500">
                <a:solidFill>
                  <a:srgbClr val="003366"/>
                </a:solidFill>
              </a:defRPr>
            </a:lvl1pPr>
          </a:lstStyle>
          <a:p>
            <a:r>
              <a:t>RUP Work Products</a:t>
            </a:r>
          </a:p>
        </p:txBody>
      </p:sp>
      <p:pic>
        <p:nvPicPr>
          <p:cNvPr id="421" name="image8.png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828801"/>
            <a:ext cx="7378700" cy="478631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p:sp>
        <p:nvSpPr>
          <p:cNvPr id="428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29" name="The requirements engineering proces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The requirements engineering process</a:t>
            </a:r>
            <a:br/>
            <a:endParaRPr/>
          </a:p>
        </p:txBody>
      </p:sp>
      <p:pic>
        <p:nvPicPr>
          <p:cNvPr id="430" name="2.4 RE-process.eps" descr="2.4 RE-process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462" y="1403051"/>
            <a:ext cx="6339336" cy="43928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003185" y="6283152"/>
            <a:ext cx="182217" cy="345629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13</a:t>
            </a:fld>
            <a:endParaRPr/>
          </a:p>
        </p:txBody>
      </p:sp>
      <p:sp>
        <p:nvSpPr>
          <p:cNvPr id="305" name="Plan-driven, or prescriptive, processes are processes where all of the process activities are planned in advance and progress is measured against this plan — they strive for an orderly approach to development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Plan-driven, or 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prescriptive</a:t>
            </a:r>
            <a:r>
              <a:t>, processes are processes where all of the process activities are planned in advance and progress is measured against this plan — they strive for an orderly approach to development.</a:t>
            </a:r>
          </a:p>
          <a:p>
            <a:r>
              <a:t>In 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agile</a:t>
            </a:r>
            <a:r>
              <a:t> processes, planning is incremental and it is easier to change the process to reflect changing customer requirements. </a:t>
            </a:r>
          </a:p>
          <a:p>
            <a:r>
              <a:t>In practice, most practical processes include elements of both plan-driven and agile approaches. </a:t>
            </a:r>
          </a:p>
          <a:p>
            <a:r>
              <a:t>There are no right or wrong software processes.</a:t>
            </a:r>
          </a:p>
        </p:txBody>
      </p:sp>
      <p:sp>
        <p:nvSpPr>
          <p:cNvPr id="306" name="Plan-driven vs agile process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Plan-driven vs agile processes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14</a:t>
            </a:fld>
            <a:endParaRPr/>
          </a:p>
        </p:txBody>
      </p:sp>
      <p:sp>
        <p:nvSpPr>
          <p:cNvPr id="433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34" name="Plan-driven vs agile developmen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Plan-driven vs agile development</a:t>
            </a:r>
          </a:p>
        </p:txBody>
      </p:sp>
      <p:pic>
        <p:nvPicPr>
          <p:cNvPr id="435" name="3.2 PlanBasedAgile.eps" descr="3.2 PlanBasedAgile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749" y="1785249"/>
            <a:ext cx="5731938" cy="435799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003185" y="6283152"/>
            <a:ext cx="182217" cy="345629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/>
          </a:p>
        </p:txBody>
      </p:sp>
      <p:sp>
        <p:nvSpPr>
          <p:cNvPr id="313" name="Activity-centered view of the software lifecycl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29184" indent="-329184" defTabSz="877822">
              <a:defRPr sz="3000"/>
            </a:pPr>
            <a:r>
              <a:t>Activity-centered view of the software lifecycle</a:t>
            </a:r>
          </a:p>
          <a:p>
            <a:pPr marL="713230" lvl="1" indent="-274319" defTabSz="877822">
              <a:spcBef>
                <a:spcPts val="600"/>
              </a:spcBef>
              <a:defRPr sz="2600"/>
            </a:pPr>
            <a:r>
              <a:t>Define detailed upfront requirements</a:t>
            </a:r>
          </a:p>
          <a:p>
            <a:pPr marL="713230" lvl="1" indent="-274319" defTabSz="877822">
              <a:spcBef>
                <a:spcPts val="600"/>
              </a:spcBef>
              <a:defRPr sz="2600"/>
            </a:pPr>
            <a:r>
              <a:t>Come up with the design that will support the required behavior.</a:t>
            </a:r>
          </a:p>
          <a:p>
            <a:pPr marL="713230" lvl="1" indent="-274319" defTabSz="877822">
              <a:spcBef>
                <a:spcPts val="600"/>
              </a:spcBef>
              <a:defRPr sz="2600"/>
            </a:pPr>
            <a:r>
              <a:t>Implement the required system.</a:t>
            </a:r>
          </a:p>
          <a:p>
            <a:pPr marL="713230" lvl="1" indent="-274319" defTabSz="877822">
              <a:spcBef>
                <a:spcPts val="600"/>
              </a:spcBef>
              <a:defRPr sz="2600"/>
            </a:pPr>
            <a:r>
              <a:t>Integrate and test the components.</a:t>
            </a:r>
          </a:p>
          <a:p>
            <a:pPr marL="329184" indent="-329184" defTabSz="877822">
              <a:defRPr sz="3000"/>
            </a:pPr>
            <a:r>
              <a:t>Activities are performed in sequence</a:t>
            </a:r>
          </a:p>
          <a:p>
            <a:pPr marL="329184" indent="-329184" defTabSz="877822">
              <a:defRPr sz="3000"/>
            </a:pPr>
            <a:r>
              <a:t>Described in 1970 by Royce.</a:t>
            </a:r>
          </a:p>
        </p:txBody>
      </p:sp>
      <p:sp>
        <p:nvSpPr>
          <p:cNvPr id="314" name="Waterfall Mode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sz="2800" dirty="0"/>
              <a:t>Waterfall Model</a:t>
            </a:r>
            <a:r>
              <a:rPr lang="en-US" sz="2800" dirty="0"/>
              <a:t>—2 week decisions every 6 months</a:t>
            </a:r>
            <a:endParaRPr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003185" y="6283152"/>
            <a:ext cx="182217" cy="345629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16</a:t>
            </a:fld>
            <a:endParaRPr/>
          </a:p>
        </p:txBody>
      </p:sp>
      <p:sp>
        <p:nvSpPr>
          <p:cNvPr id="317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18" name="The waterfall model"/>
          <p:cNvSpPr txBox="1">
            <a:spLocks noGrp="1"/>
          </p:cNvSpPr>
          <p:nvPr>
            <p:ph type="title"/>
          </p:nvPr>
        </p:nvSpPr>
        <p:spPr>
          <a:xfrm>
            <a:off x="1981200" y="484647"/>
            <a:ext cx="8229600" cy="835125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The waterfall model</a:t>
            </a:r>
          </a:p>
          <a:p>
            <a:br/>
            <a:endParaRPr/>
          </a:p>
        </p:txBody>
      </p:sp>
      <p:pic>
        <p:nvPicPr>
          <p:cNvPr id="319" name="2.1.Waterfall-model.eps" descr="2.1.Waterfall-model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053" y="1931940"/>
            <a:ext cx="7183698" cy="4039468"/>
          </a:xfrm>
          <a:prstGeom prst="rect">
            <a:avLst/>
          </a:prstGeom>
          <a:ln w="12700">
            <a:miter lim="400000"/>
          </a:ln>
        </p:spPr>
      </p:pic>
      <p:sp>
        <p:nvSpPr>
          <p:cNvPr id="320" name="Define, Design, Develop, Deliver"/>
          <p:cNvSpPr txBox="1"/>
          <p:nvPr/>
        </p:nvSpPr>
        <p:spPr>
          <a:xfrm>
            <a:off x="6696833" y="1776731"/>
            <a:ext cx="3104692" cy="369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r>
              <a:t>Define, Design, Develop, Deliver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003185" y="6283152"/>
            <a:ext cx="182217" cy="345629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17</a:t>
            </a:fld>
            <a:endParaRPr/>
          </a:p>
        </p:txBody>
      </p:sp>
      <p:sp>
        <p:nvSpPr>
          <p:cNvPr id="301" name="There are separate identified phases in the waterfall model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There are separate identified phases in the waterfall model:</a:t>
            </a:r>
          </a:p>
          <a:p>
            <a:pPr marL="774700" lvl="1" indent="-317500">
              <a:spcBef>
                <a:spcPts val="300"/>
              </a:spcBef>
              <a:defRPr sz="2000"/>
            </a:pPr>
            <a:r>
              <a:t>Requirements analysis and definition</a:t>
            </a:r>
          </a:p>
          <a:p>
            <a:pPr marL="774700" lvl="1" indent="-317500">
              <a:spcBef>
                <a:spcPts val="300"/>
              </a:spcBef>
              <a:defRPr sz="2000"/>
            </a:pPr>
            <a:r>
              <a:t>System and software design</a:t>
            </a:r>
          </a:p>
          <a:p>
            <a:pPr marL="774700" lvl="1" indent="-317500">
              <a:spcBef>
                <a:spcPts val="300"/>
              </a:spcBef>
              <a:defRPr sz="2000"/>
            </a:pPr>
            <a:r>
              <a:t>Implementation and unit testing</a:t>
            </a:r>
          </a:p>
          <a:p>
            <a:pPr marL="774700" lvl="1" indent="-317500">
              <a:spcBef>
                <a:spcPts val="300"/>
              </a:spcBef>
              <a:defRPr sz="2000"/>
            </a:pPr>
            <a:r>
              <a:t>Integration and system testing</a:t>
            </a:r>
          </a:p>
          <a:p>
            <a:pPr marL="774700" lvl="1" indent="-317500">
              <a:spcBef>
                <a:spcPts val="300"/>
              </a:spcBef>
              <a:defRPr sz="2000"/>
            </a:pPr>
            <a:r>
              <a:t>Operation and maintenance</a:t>
            </a:r>
          </a:p>
          <a:p>
            <a:r>
              <a:t>The main drawback of the waterfall model is the difficulty of accommodating change after the process is underway. In principle, a phase has to be complete before moving onto the next phase.</a:t>
            </a:r>
          </a:p>
        </p:txBody>
      </p:sp>
      <p:sp>
        <p:nvSpPr>
          <p:cNvPr id="302" name="Waterfall model phas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Waterfall model phases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003185" y="6283152"/>
            <a:ext cx="182217" cy="345629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18</a:t>
            </a:fld>
            <a:endParaRPr/>
          </a:p>
        </p:txBody>
      </p:sp>
      <p:sp>
        <p:nvSpPr>
          <p:cNvPr id="309" name="The waterfall model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2000"/>
            </a:pPr>
            <a:r>
              <a:t>The waterfall model</a:t>
            </a:r>
          </a:p>
          <a:p>
            <a:pPr marL="774700" lvl="1" indent="-317500">
              <a:spcBef>
                <a:spcPts val="300"/>
              </a:spcBef>
              <a:defRPr sz="2000"/>
            </a:pPr>
            <a:r>
              <a:t>Plan-driven model. Separate and distinct phases of specification and development.</a:t>
            </a:r>
          </a:p>
          <a:p>
            <a:pPr>
              <a:defRPr sz="2000"/>
            </a:pPr>
            <a:r>
              <a:t>Incremental development</a:t>
            </a:r>
          </a:p>
          <a:p>
            <a:pPr marL="774700" lvl="1" indent="-317500">
              <a:spcBef>
                <a:spcPts val="300"/>
              </a:spcBef>
              <a:defRPr sz="2000"/>
            </a:pPr>
            <a:r>
              <a:t>Specification, development and validation are interleaved. May be plan-driven or agile.</a:t>
            </a:r>
          </a:p>
          <a:p>
            <a:pPr>
              <a:defRPr sz="2000"/>
            </a:pPr>
            <a:r>
              <a:t>Integration and configuration</a:t>
            </a:r>
          </a:p>
          <a:p>
            <a:pPr marL="774700" lvl="1" indent="-317500">
              <a:spcBef>
                <a:spcPts val="300"/>
              </a:spcBef>
              <a:defRPr sz="2000"/>
            </a:pPr>
            <a:r>
              <a:t>The system is assembled from existing configurable components. May be plan-driven or agile.</a:t>
            </a:r>
          </a:p>
          <a:p>
            <a:pPr>
              <a:defRPr sz="2000"/>
            </a:pPr>
            <a:r>
              <a:t>In practice, most large systems are developed using a process that incorporates elements from all of these models.</a:t>
            </a:r>
          </a:p>
        </p:txBody>
      </p:sp>
      <p:sp>
        <p:nvSpPr>
          <p:cNvPr id="310" name="Software process model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Software process models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003185" y="6283152"/>
            <a:ext cx="182217" cy="345629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19</a:t>
            </a:fld>
            <a:endParaRPr/>
          </a:p>
        </p:txBody>
      </p:sp>
      <p:sp>
        <p:nvSpPr>
          <p:cNvPr id="323" name="Complete up-front specifications with sign-off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39470" indent="-339470" defTabSz="905255">
              <a:defRPr sz="3100" b="1">
                <a:latin typeface="Arial"/>
                <a:ea typeface="Arial"/>
                <a:cs typeface="Arial"/>
                <a:sym typeface="Arial"/>
              </a:defRPr>
            </a:pPr>
            <a:r>
              <a:t>Complete up-front specifications with sign-off</a:t>
            </a:r>
          </a:p>
          <a:p>
            <a:pPr marL="735519" lvl="1" indent="-282891" defTabSz="905255">
              <a:spcBef>
                <a:spcPts val="600"/>
              </a:spcBef>
              <a:defRPr sz="2700"/>
            </a:pPr>
            <a:r>
              <a:t>Research showed that 45% of features created from early specifications were never used—with an additional 19% rarely used [Johnson02].</a:t>
            </a:r>
          </a:p>
          <a:p>
            <a:pPr marL="735519" lvl="1" indent="-282891" defTabSz="905255">
              <a:spcBef>
                <a:spcPts val="600"/>
              </a:spcBef>
              <a:defRPr sz="2700" b="1">
                <a:latin typeface="Arial"/>
                <a:ea typeface="Arial"/>
                <a:cs typeface="Arial"/>
                <a:sym typeface="Arial"/>
              </a:defRPr>
            </a:pPr>
            <a:r>
              <a:t>Over-engineering</a:t>
            </a:r>
            <a:r>
              <a:rPr b="0"/>
              <a:t>, a study of 400 projects spanning 15 years showed that less than 50% of the code was actually useful or used [CLW01].</a:t>
            </a:r>
          </a:p>
        </p:txBody>
      </p:sp>
      <p:sp>
        <p:nvSpPr>
          <p:cNvPr id="324" name="Problems with the Waterfall (I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Problems with the Waterfall (I)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20</a:t>
            </a:fld>
            <a:endParaRPr/>
          </a:p>
        </p:txBody>
      </p:sp>
      <p:sp>
        <p:nvSpPr>
          <p:cNvPr id="327" name="Late Integration and Test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85035" indent="-285035" defTabSz="868680">
              <a:spcBef>
                <a:spcPts val="600"/>
              </a:spcBef>
              <a:defRPr sz="2100" b="1">
                <a:latin typeface="Arial"/>
                <a:ea typeface="Arial"/>
                <a:cs typeface="Arial"/>
                <a:sym typeface="Arial"/>
              </a:defRPr>
            </a:pPr>
            <a:r>
              <a:t>Late Integration and Test</a:t>
            </a:r>
          </a:p>
          <a:p>
            <a:pPr marL="667021" lvl="1" indent="-232682" defTabSz="868680">
              <a:defRPr sz="2100"/>
            </a:pPr>
            <a:r>
              <a:t>The waterfall pushes this high-risk and difficult issues toward the end of the project. Waterfall is called 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fail-late</a:t>
            </a:r>
            <a:r>
              <a:t> lifecycle.</a:t>
            </a:r>
          </a:p>
          <a:p>
            <a:pPr marL="285035" indent="-285035" defTabSz="868680">
              <a:spcBef>
                <a:spcPts val="600"/>
              </a:spcBef>
              <a:defRPr sz="2100" b="1">
                <a:latin typeface="Arial"/>
                <a:ea typeface="Arial"/>
                <a:cs typeface="Arial"/>
                <a:sym typeface="Arial"/>
              </a:defRPr>
            </a:pPr>
            <a:r>
              <a:t>Reliable Up-front Estimates and Schedules</a:t>
            </a:r>
          </a:p>
          <a:p>
            <a:pPr marL="667021" lvl="1" indent="-232682" defTabSz="868680">
              <a:defRPr sz="2100"/>
            </a:pPr>
            <a:r>
              <a:t>Can not be done when the full requirements and risks are not reliably known at the start, and high rates of change are the norm.</a:t>
            </a:r>
          </a:p>
          <a:p>
            <a:pPr marL="285035" indent="-285035" defTabSz="868680">
              <a:spcBef>
                <a:spcPts val="600"/>
              </a:spcBef>
              <a:defRPr sz="2100" b="1">
                <a:latin typeface="Arial"/>
                <a:ea typeface="Arial"/>
                <a:cs typeface="Arial"/>
                <a:sym typeface="Arial"/>
              </a:defRPr>
            </a:pPr>
            <a:r>
              <a:t>“Plan the work, work the plan” values</a:t>
            </a:r>
          </a:p>
          <a:p>
            <a:pPr marL="667021" lvl="1" indent="-232682" defTabSz="868680">
              <a:defRPr sz="2100"/>
            </a:pPr>
            <a:r>
              <a:t>Limited value for high change, novel, innovative domains such as software development.</a:t>
            </a:r>
          </a:p>
        </p:txBody>
      </p:sp>
      <p:sp>
        <p:nvSpPr>
          <p:cNvPr id="328" name="Problems with the Waterfall (II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Problems with the Waterfall (II)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9850488" y="6283152"/>
            <a:ext cx="334913" cy="345629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21</a:t>
            </a:fld>
            <a:endParaRPr/>
          </a:p>
        </p:txBody>
      </p:sp>
      <p:sp>
        <p:nvSpPr>
          <p:cNvPr id="331" name="Inflexible partitioning of the project into distinct stages makes it difficult to respond to changing customer requirements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Inflexible partitioning of the project into distinct stages makes it difficult to respond to changing customer requirements.</a:t>
            </a:r>
          </a:p>
          <a:p>
            <a:pPr marL="774700" lvl="1" indent="-317500">
              <a:spcBef>
                <a:spcPts val="300"/>
              </a:spcBef>
              <a:defRPr sz="2000"/>
            </a:pPr>
            <a:r>
              <a:t>Therefore, this model is only appropriate when the requirements are well-understood and changes will be fairly limited during the design process. </a:t>
            </a:r>
          </a:p>
          <a:p>
            <a:pPr marL="774700" lvl="1" indent="-317500">
              <a:spcBef>
                <a:spcPts val="300"/>
              </a:spcBef>
              <a:defRPr sz="2000"/>
            </a:pPr>
            <a:r>
              <a:t>Few business systems have stable requirements.</a:t>
            </a:r>
          </a:p>
          <a:p>
            <a:r>
              <a:t>The waterfall model is mostly used for large systems engineering projects where a system is developed at several sites.</a:t>
            </a:r>
          </a:p>
          <a:p>
            <a:pPr marL="774700" lvl="1" indent="-317500">
              <a:spcBef>
                <a:spcPts val="300"/>
              </a:spcBef>
              <a:defRPr sz="2000"/>
            </a:pPr>
            <a:r>
              <a:t>In those circumstances, the plan-driven nature of the waterfall model helps coordinate the work. </a:t>
            </a:r>
          </a:p>
        </p:txBody>
      </p:sp>
      <p:sp>
        <p:nvSpPr>
          <p:cNvPr id="332" name="Waterfall model problem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Waterfall model problems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22</a:t>
            </a:fld>
            <a:endParaRPr/>
          </a:p>
        </p:txBody>
      </p:sp>
      <p:sp>
        <p:nvSpPr>
          <p:cNvPr id="335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36" name="Incremental developmen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Incremental development </a:t>
            </a:r>
            <a:br/>
            <a:endParaRPr/>
          </a:p>
        </p:txBody>
      </p:sp>
      <p:pic>
        <p:nvPicPr>
          <p:cNvPr id="337" name="2.2 Incremental-dev.eps" descr="2.2 Incremental-dev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892460"/>
            <a:ext cx="7517728" cy="405192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23</a:t>
            </a:fld>
            <a:endParaRPr/>
          </a:p>
        </p:txBody>
      </p:sp>
      <p:sp>
        <p:nvSpPr>
          <p:cNvPr id="340" name="The cost of accommodating changing customer requirements is reduced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900"/>
            </a:pPr>
            <a:r>
              <a:t>The cost of accommodating changing customer requirements is reduced. </a:t>
            </a:r>
          </a:p>
          <a:p>
            <a:pPr marL="774700" lvl="1" indent="-317500">
              <a:spcBef>
                <a:spcPts val="300"/>
              </a:spcBef>
              <a:defRPr sz="1900"/>
            </a:pPr>
            <a:r>
              <a:t>The amount of analysis and documentation that has to be redone is much less than is required with the waterfall model.</a:t>
            </a:r>
          </a:p>
          <a:p>
            <a:pPr>
              <a:defRPr sz="1900"/>
            </a:pPr>
            <a:r>
              <a:t>It is easier to get customer feedback on the development work that has been done. </a:t>
            </a:r>
          </a:p>
          <a:p>
            <a:pPr marL="774700" lvl="1" indent="-317500">
              <a:spcBef>
                <a:spcPts val="300"/>
              </a:spcBef>
              <a:defRPr sz="1900"/>
            </a:pPr>
            <a:r>
              <a:t>Customers can comment on demonstrations of the software and see how much has been implemented. </a:t>
            </a:r>
          </a:p>
          <a:p>
            <a:pPr>
              <a:defRPr sz="1900"/>
            </a:pPr>
            <a:r>
              <a:t>More rapid delivery and deployment of useful software to the customer is possible. </a:t>
            </a:r>
          </a:p>
          <a:p>
            <a:pPr marL="774700" lvl="1" indent="-317500">
              <a:spcBef>
                <a:spcPts val="300"/>
              </a:spcBef>
              <a:defRPr sz="1900"/>
            </a:pPr>
            <a:r>
              <a:t>Customers are able to use and gain value from the software earlier than is possible with a waterfall process. </a:t>
            </a:r>
          </a:p>
        </p:txBody>
      </p:sp>
      <p:sp>
        <p:nvSpPr>
          <p:cNvPr id="341" name="Incremental development benefi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Incremental development benefits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24</a:t>
            </a:fld>
            <a:endParaRPr/>
          </a:p>
        </p:txBody>
      </p:sp>
      <p:sp>
        <p:nvSpPr>
          <p:cNvPr id="344" name="The process is not visible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process is not visible. </a:t>
            </a:r>
          </a:p>
          <a:p>
            <a:pPr marL="774700" lvl="1" indent="-317500">
              <a:spcBef>
                <a:spcPts val="300"/>
              </a:spcBef>
              <a:defRPr sz="2000"/>
            </a:pPr>
            <a:r>
              <a:t>Managers need regular deliverables to measure progress. If systems are developed quickly, it is not cost-effective to produce documents that reflect every version of the system. </a:t>
            </a:r>
          </a:p>
          <a:p>
            <a:r>
              <a:t>System structure tends to degrade as new increments are added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. </a:t>
            </a:r>
            <a:r>
              <a:t> </a:t>
            </a:r>
          </a:p>
          <a:p>
            <a:pPr marL="774700" lvl="1" indent="-317500">
              <a:spcBef>
                <a:spcPts val="300"/>
              </a:spcBef>
              <a:defRPr sz="2000"/>
            </a:pPr>
            <a:r>
              <a:t>Unless time and money is spent on refactoring to improve the software, regular change tends to corrupt its structure. Incorporating further software changes becomes increasingly difficult and costly. </a:t>
            </a:r>
          </a:p>
        </p:txBody>
      </p:sp>
      <p:sp>
        <p:nvSpPr>
          <p:cNvPr id="345" name="Incremental development problem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Incremental development problems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25</a:t>
            </a:fld>
            <a:endParaRPr/>
          </a:p>
        </p:txBody>
      </p:sp>
      <p:sp>
        <p:nvSpPr>
          <p:cNvPr id="438" name="Dissatisfaction with the overheads involved in software design methods of the 1980s and 1990s led to the creation of agile methods. These methods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Dissatisfaction with the overheads involved in software design methods of the 1980s and 1990s led to the creation of agile methods. These methods:</a:t>
            </a:r>
          </a:p>
          <a:p>
            <a:pPr marL="774700" lvl="1" indent="-317500">
              <a:spcBef>
                <a:spcPts val="300"/>
              </a:spcBef>
              <a:defRPr sz="2000"/>
            </a:pPr>
            <a:r>
              <a:t>Focus on the code rather than the design</a:t>
            </a:r>
          </a:p>
          <a:p>
            <a:pPr marL="774700" lvl="1" indent="-317500">
              <a:spcBef>
                <a:spcPts val="300"/>
              </a:spcBef>
              <a:defRPr sz="2000"/>
            </a:pPr>
            <a:r>
              <a:t>Are based on an iterative approach to software development</a:t>
            </a:r>
          </a:p>
          <a:p>
            <a:pPr marL="774700" lvl="1" indent="-317500">
              <a:spcBef>
                <a:spcPts val="300"/>
              </a:spcBef>
              <a:defRPr sz="2000"/>
            </a:pPr>
            <a:r>
              <a:t>Are intended to deliver working software quickly and evolve this quickly to meet changing requirements.</a:t>
            </a:r>
          </a:p>
          <a:p>
            <a:r>
              <a:t>The aim of agile methods is to reduce overheads in the software process (e.g. by limiting documentation) and to be able to respond quickly to changing requirements without excessive rework.</a:t>
            </a:r>
          </a:p>
        </p:txBody>
      </p:sp>
      <p:sp>
        <p:nvSpPr>
          <p:cNvPr id="439" name="Agile method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sz="2800" dirty="0"/>
              <a:t>Agile methods</a:t>
            </a:r>
            <a:r>
              <a:rPr lang="en-US" sz="2800" dirty="0"/>
              <a:t>—6 month decisions every two weeks</a:t>
            </a:r>
            <a:endParaRPr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26</a:t>
            </a:fld>
            <a:endParaRPr/>
          </a:p>
        </p:txBody>
      </p:sp>
      <p:sp>
        <p:nvSpPr>
          <p:cNvPr id="442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43" name="The principles of agile method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principles of agile methods </a:t>
            </a:r>
          </a:p>
        </p:txBody>
      </p:sp>
      <p:graphicFrame>
        <p:nvGraphicFramePr>
          <p:cNvPr id="444" name="Table 1"/>
          <p:cNvGraphicFramePr/>
          <p:nvPr/>
        </p:nvGraphicFramePr>
        <p:xfrm>
          <a:off x="1981200" y="1420427"/>
          <a:ext cx="8271316" cy="4660940"/>
        </p:xfrm>
        <a:graphic>
          <a:graphicData uri="http://schemas.openxmlformats.org/drawingml/2006/table">
            <a:tbl>
              <a:tblPr/>
              <a:tblGrid>
                <a:gridCol w="2300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4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3151">
                <a:tc>
                  <a:txBody>
                    <a:bodyPr/>
                    <a:lstStyle/>
                    <a:p>
                      <a:pPr algn="just">
                        <a:defRPr sz="1800"/>
                      </a:pPr>
                      <a:r>
                        <a:rPr sz="1600" b="1">
                          <a:latin typeface="Arial"/>
                          <a:ea typeface="Arial"/>
                          <a:cs typeface="Arial"/>
                        </a:rPr>
                        <a:t>Principle</a:t>
                      </a:r>
                    </a:p>
                  </a:txBody>
                  <a:tcPr marL="73025" marR="73025" marT="73025" marB="73025" horzOverflow="overflow">
                    <a:lnB w="38100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defRPr sz="1800"/>
                      </a:pPr>
                      <a:r>
                        <a:rPr sz="1600" b="1">
                          <a:latin typeface="Arial"/>
                          <a:ea typeface="Arial"/>
                          <a:cs typeface="Arial"/>
                        </a:rPr>
                        <a:t>Description</a:t>
                      </a:r>
                    </a:p>
                  </a:txBody>
                  <a:tcPr marL="73025" marR="73025" marT="73025" marB="73025" horzOverflow="overflow">
                    <a:lnB w="38100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3542">
                <a:tc>
                  <a:txBody>
                    <a:bodyPr/>
                    <a:lstStyle/>
                    <a:p>
                      <a:pPr algn="just">
                        <a:defRPr sz="1800"/>
                      </a:pPr>
                      <a:r>
                        <a:rPr sz="1600">
                          <a:latin typeface="Arial"/>
                          <a:ea typeface="Arial"/>
                          <a:cs typeface="Arial"/>
                        </a:rPr>
                        <a:t>Customer involvement </a:t>
                      </a:r>
                    </a:p>
                  </a:txBody>
                  <a:tcPr marL="0" marR="0" marT="0" marB="0" horzOverflow="overflow">
                    <a:lnT w="38100">
                      <a:solidFill>
                        <a:srgbClr val="FFFFFF"/>
                      </a:solidFill>
                    </a:lnT>
                    <a:solidFill>
                      <a:srgbClr val="D0D8E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defRPr sz="1800"/>
                      </a:pPr>
                      <a:r>
                        <a:rPr sz="1600">
                          <a:latin typeface="Arial"/>
                          <a:ea typeface="Arial"/>
                          <a:cs typeface="Arial"/>
                        </a:rPr>
                        <a:t>Customers should be closely involved throughout the development process. Their role is provide and prioritize new system requirements and to evaluate the iterations of the system.</a:t>
                      </a:r>
                    </a:p>
                  </a:txBody>
                  <a:tcPr marL="0" marR="0" marT="0" marB="0" horzOverflow="overflow">
                    <a:lnT w="38100">
                      <a:solidFill>
                        <a:srgbClr val="FFFFFF"/>
                      </a:solidFill>
                    </a:lnT>
                    <a:solidFill>
                      <a:srgbClr val="D0D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9977">
                <a:tc>
                  <a:txBody>
                    <a:bodyPr/>
                    <a:lstStyle/>
                    <a:p>
                      <a:pPr algn="just">
                        <a:defRPr sz="1800"/>
                      </a:pPr>
                      <a:r>
                        <a:rPr sz="1600">
                          <a:latin typeface="Arial"/>
                          <a:ea typeface="Arial"/>
                          <a:cs typeface="Arial"/>
                        </a:rPr>
                        <a:t>Incremental delivery</a:t>
                      </a:r>
                    </a:p>
                  </a:txBody>
                  <a:tcPr marL="0" marR="0" marT="0" marB="0" horzOverflow="overflow">
                    <a:solidFill>
                      <a:srgbClr val="E9EDF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defRPr sz="1800"/>
                      </a:pPr>
                      <a:r>
                        <a:rPr sz="1600">
                          <a:latin typeface="Arial"/>
                          <a:ea typeface="Arial"/>
                          <a:cs typeface="Arial"/>
                        </a:rPr>
                        <a:t>The software is developed in increments with the customer specifying the requirements to be included in each increment.</a:t>
                      </a:r>
                    </a:p>
                  </a:txBody>
                  <a:tcPr marL="0" marR="0" marT="0" marB="0" horzOverflow="overflow">
                    <a:solidFill>
                      <a:srgbClr val="E9ED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1953">
                <a:tc>
                  <a:txBody>
                    <a:bodyPr/>
                    <a:lstStyle/>
                    <a:p>
                      <a:pPr algn="just">
                        <a:defRPr sz="1800"/>
                      </a:pPr>
                      <a:r>
                        <a:rPr sz="1600">
                          <a:latin typeface="Arial"/>
                          <a:ea typeface="Arial"/>
                          <a:cs typeface="Arial"/>
                        </a:rPr>
                        <a:t>People not process</a:t>
                      </a:r>
                    </a:p>
                  </a:txBody>
                  <a:tcPr marL="0" marR="0" marT="0" marB="0" horzOverflow="overflow">
                    <a:solidFill>
                      <a:srgbClr val="D0D8E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defRPr sz="1800"/>
                      </a:pPr>
                      <a:r>
                        <a:rPr sz="1600">
                          <a:latin typeface="Arial"/>
                          <a:ea typeface="Arial"/>
                          <a:cs typeface="Arial"/>
                        </a:rPr>
                        <a:t>The skills of the development team should be recognized and exploited. Team members should be left to develop their own ways of working without prescriptive processes.</a:t>
                      </a:r>
                    </a:p>
                  </a:txBody>
                  <a:tcPr marL="0" marR="0" marT="0" marB="0" horzOverflow="overflow">
                    <a:solidFill>
                      <a:srgbClr val="D0D8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0364">
                <a:tc>
                  <a:txBody>
                    <a:bodyPr/>
                    <a:lstStyle/>
                    <a:p>
                      <a:pPr algn="just">
                        <a:defRPr sz="1800"/>
                      </a:pPr>
                      <a:r>
                        <a:rPr sz="1600">
                          <a:latin typeface="Arial"/>
                          <a:ea typeface="Arial"/>
                          <a:cs typeface="Arial"/>
                        </a:rPr>
                        <a:t>Embrace change</a:t>
                      </a:r>
                    </a:p>
                  </a:txBody>
                  <a:tcPr marL="0" marR="0" marT="0" marB="0" horzOverflow="overflow">
                    <a:solidFill>
                      <a:srgbClr val="E9EDF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defRPr sz="1800"/>
                      </a:pPr>
                      <a:r>
                        <a:rPr sz="1600">
                          <a:latin typeface="Arial"/>
                          <a:ea typeface="Arial"/>
                          <a:cs typeface="Arial"/>
                        </a:rPr>
                        <a:t>Expect the system requirements to change and so design the system to accommodate these changes.</a:t>
                      </a:r>
                    </a:p>
                  </a:txBody>
                  <a:tcPr marL="0" marR="0" marT="0" marB="0" horzOverflow="overflow">
                    <a:solidFill>
                      <a:srgbClr val="E9ED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1953">
                <a:tc>
                  <a:txBody>
                    <a:bodyPr/>
                    <a:lstStyle/>
                    <a:p>
                      <a:pPr algn="just">
                        <a:defRPr sz="1800"/>
                      </a:pPr>
                      <a:r>
                        <a:rPr sz="1600">
                          <a:latin typeface="Arial"/>
                          <a:ea typeface="Arial"/>
                          <a:cs typeface="Arial"/>
                        </a:rPr>
                        <a:t>Maintain simplicity</a:t>
                      </a:r>
                    </a:p>
                  </a:txBody>
                  <a:tcPr marL="0" marR="0" marT="0" marB="0" horzOverflow="overflow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defRPr sz="1800"/>
                      </a:pPr>
                      <a:r>
                        <a:rPr sz="1600">
                          <a:latin typeface="Arial"/>
                          <a:ea typeface="Arial"/>
                          <a:cs typeface="Arial"/>
                        </a:rPr>
                        <a:t>Focus on simplicity in both the software being developed and in the development process. Wherever possible, actively work to eliminate complexity from the system.</a:t>
                      </a:r>
                    </a:p>
                  </a:txBody>
                  <a:tcPr marL="0" marR="0" marT="0" marB="0" horzOverflow="overflow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</a:p>
                  </a:txBody>
                  <a:tcPr marL="0" marR="0" marT="0" marB="0" anchor="ctr" horzOverflow="overflow"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27D55DF-278E-F0EB-DAD5-269D3283798D}"/>
                  </a:ext>
                </a:extLst>
              </p14:cNvPr>
              <p14:cNvContentPartPr/>
              <p14:nvPr/>
            </p14:nvContentPartPr>
            <p14:xfrm>
              <a:off x="340920" y="1189080"/>
              <a:ext cx="2719800" cy="1056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27D55DF-278E-F0EB-DAD5-269D3283798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560" y="1179720"/>
                <a:ext cx="2738520" cy="1075320"/>
              </a:xfrm>
              <a:prstGeom prst="rect">
                <a:avLst/>
              </a:prstGeom>
            </p:spPr>
          </p:pic>
        </mc:Fallback>
      </mc:AlternateContent>
      <p:sp>
        <p:nvSpPr>
          <p:cNvPr id="4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27</a:t>
            </a:fld>
            <a:endParaRPr/>
          </a:p>
        </p:txBody>
      </p:sp>
      <p:sp>
        <p:nvSpPr>
          <p:cNvPr id="447" name="`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448" name="The extreme programming (XP) release cyc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1">
              <a:defRPr sz="3000"/>
            </a:pPr>
            <a:r>
              <a:t>The extreme programming (XP) release cycle </a:t>
            </a:r>
          </a:p>
        </p:txBody>
      </p:sp>
      <p:pic>
        <p:nvPicPr>
          <p:cNvPr id="449" name="3.3-XP-ReleaseCycle.eps" descr="3.3-XP-ReleaseCycle.ep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6427" y="2372086"/>
            <a:ext cx="6558006" cy="285627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39519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28</a:t>
            </a:fld>
            <a:endParaRPr/>
          </a:p>
        </p:txBody>
      </p:sp>
      <p:sp>
        <p:nvSpPr>
          <p:cNvPr id="452" name="Scrum is an agile method that focuses on managing iterative development rather than specific agile practices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900"/>
            </a:pPr>
            <a:r>
              <a:t>Scrum is an agile method that focuses on managing iterative development rather than specific agile practices.</a:t>
            </a:r>
          </a:p>
          <a:p>
            <a:pPr>
              <a:defRPr sz="1900"/>
            </a:pPr>
            <a:r>
              <a:t>There are three phases in Scrum. </a:t>
            </a:r>
          </a:p>
          <a:p>
            <a:pPr marL="774700" lvl="1" indent="-317500">
              <a:spcBef>
                <a:spcPts val="300"/>
              </a:spcBef>
              <a:defRPr sz="1900"/>
            </a:pPr>
            <a:r>
              <a:t>The initial phase is an outline planning phase where you establish the general objectives for the project and design the software architecture. </a:t>
            </a:r>
          </a:p>
          <a:p>
            <a:pPr marL="774700" lvl="1" indent="-317500">
              <a:spcBef>
                <a:spcPts val="300"/>
              </a:spcBef>
              <a:defRPr sz="1900"/>
            </a:pPr>
            <a:r>
              <a:t>This is followed by a series of sprint cycles, where each cycle develops an increment of the system. </a:t>
            </a:r>
          </a:p>
          <a:p>
            <a:pPr marL="774700" lvl="1" indent="-317500">
              <a:spcBef>
                <a:spcPts val="300"/>
              </a:spcBef>
              <a:defRPr sz="1900"/>
            </a:pPr>
            <a:r>
              <a:t>The project closure phase wraps up the project, completes required documentation such as system help frames and user manuals and assesses the lessons learned from the project.</a:t>
            </a:r>
          </a:p>
          <a:p>
            <a:pPr>
              <a:defRPr sz="1900"/>
            </a:pPr>
            <a:r>
              <a:t> </a:t>
            </a:r>
          </a:p>
        </p:txBody>
      </p:sp>
      <p:sp>
        <p:nvSpPr>
          <p:cNvPr id="453" name="Scru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Scrum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29</a:t>
            </a:fld>
            <a:endParaRPr/>
          </a:p>
        </p:txBody>
      </p:sp>
      <p:sp>
        <p:nvSpPr>
          <p:cNvPr id="456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57" name="Scrum sprint cyc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Scrum sprint cycle</a:t>
            </a:r>
          </a:p>
        </p:txBody>
      </p:sp>
      <p:pic>
        <p:nvPicPr>
          <p:cNvPr id="458" name="3.9 Scrum sprint cycle.eps" descr="3.9 Scrum sprint cycle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2235200"/>
            <a:ext cx="8159750" cy="32639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D80E3-DAB3-E267-C9F0-D65636632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Goal—Scrum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BCA4B-EC84-E277-B91E-F9B7ED0EA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exactly do I want to have happen?</a:t>
            </a:r>
          </a:p>
          <a:p>
            <a:r>
              <a:rPr lang="en-US" dirty="0"/>
              <a:t>How will I know if it worked?</a:t>
            </a:r>
          </a:p>
        </p:txBody>
      </p:sp>
    </p:spTree>
    <p:extLst>
      <p:ext uri="{BB962C8B-B14F-4D97-AF65-F5344CB8AC3E}">
        <p14:creationId xmlns:p14="http://schemas.microsoft.com/office/powerpoint/2010/main" val="2282625770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D80E3-DAB3-E267-C9F0-D65636632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Goal—Scrum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BCA4B-EC84-E277-B91E-F9B7ED0EA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exactly do I want to have happen?</a:t>
            </a:r>
          </a:p>
          <a:p>
            <a:pPr lvl="1"/>
            <a:r>
              <a:rPr lang="en-US" dirty="0"/>
              <a:t>Fulfill long term visions quickly and flexibly</a:t>
            </a:r>
          </a:p>
          <a:p>
            <a:pPr lvl="1"/>
            <a:r>
              <a:rPr lang="en-US" dirty="0"/>
              <a:t>“Have fun”</a:t>
            </a:r>
          </a:p>
        </p:txBody>
      </p:sp>
    </p:spTree>
    <p:extLst>
      <p:ext uri="{BB962C8B-B14F-4D97-AF65-F5344CB8AC3E}">
        <p14:creationId xmlns:p14="http://schemas.microsoft.com/office/powerpoint/2010/main" val="1577846257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D80E3-DAB3-E267-C9F0-D65636632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Goal—Scrum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BCA4B-EC84-E277-B91E-F9B7ED0EA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exactly do I want to have happen?</a:t>
            </a:r>
          </a:p>
          <a:p>
            <a:pPr lvl="1"/>
            <a:r>
              <a:rPr lang="en-US" dirty="0"/>
              <a:t>Fulfill long term visions quickly and flexibly</a:t>
            </a:r>
          </a:p>
          <a:p>
            <a:pPr lvl="1"/>
            <a:r>
              <a:rPr lang="en-US" dirty="0"/>
              <a:t>“Have fun”</a:t>
            </a:r>
          </a:p>
          <a:p>
            <a:pPr lvl="1"/>
            <a:r>
              <a:rPr lang="en-US" dirty="0"/>
              <a:t>Never forget: </a:t>
            </a:r>
          </a:p>
          <a:p>
            <a:pPr lvl="2"/>
            <a:r>
              <a:rPr lang="en-US" dirty="0"/>
              <a:t>you work for money, not pizza</a:t>
            </a:r>
          </a:p>
          <a:p>
            <a:pPr lvl="2"/>
            <a:r>
              <a:rPr lang="en-US" dirty="0"/>
              <a:t>you don’t work on the weekends except for HARD deadlines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-&gt;</a:t>
            </a:r>
            <a:r>
              <a:rPr lang="en-US" dirty="0"/>
              <a:t> don’t do hackathons</a:t>
            </a:r>
          </a:p>
        </p:txBody>
      </p:sp>
    </p:spTree>
    <p:extLst>
      <p:ext uri="{BB962C8B-B14F-4D97-AF65-F5344CB8AC3E}">
        <p14:creationId xmlns:p14="http://schemas.microsoft.com/office/powerpoint/2010/main" val="2114167896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D80E3-DAB3-E267-C9F0-D65636632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Goal—Scrum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BCA4B-EC84-E277-B91E-F9B7ED0EA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exactly do I want to have happen?</a:t>
            </a:r>
          </a:p>
          <a:p>
            <a:pPr lvl="1"/>
            <a:r>
              <a:rPr lang="en-US" dirty="0"/>
              <a:t>Fulfill long term visions quickly and flexibly</a:t>
            </a:r>
          </a:p>
          <a:p>
            <a:pPr lvl="1"/>
            <a:r>
              <a:rPr lang="en-US" dirty="0"/>
              <a:t>“Have fun”</a:t>
            </a:r>
          </a:p>
          <a:p>
            <a:pPr lvl="1"/>
            <a:r>
              <a:rPr lang="en-US" dirty="0"/>
              <a:t>Never forget: </a:t>
            </a:r>
          </a:p>
          <a:p>
            <a:pPr lvl="2"/>
            <a:r>
              <a:rPr lang="en-US" dirty="0"/>
              <a:t>you work for money, not pizza</a:t>
            </a:r>
          </a:p>
          <a:p>
            <a:pPr lvl="2"/>
            <a:r>
              <a:rPr lang="en-US" dirty="0"/>
              <a:t>you don’t work on the weekends except for HARD deadlines</a:t>
            </a:r>
          </a:p>
          <a:p>
            <a:pPr lvl="2"/>
            <a:r>
              <a:rPr lang="en-US" dirty="0"/>
              <a:t>-&gt; don’t do hackathons</a:t>
            </a:r>
          </a:p>
          <a:p>
            <a:r>
              <a:rPr lang="en-US" dirty="0"/>
              <a:t>How will I know if it worked?</a:t>
            </a:r>
          </a:p>
          <a:p>
            <a:pPr lvl="1"/>
            <a:r>
              <a:rPr lang="en-US" dirty="0"/>
              <a:t>Good question</a:t>
            </a:r>
          </a:p>
        </p:txBody>
      </p:sp>
    </p:spTree>
    <p:extLst>
      <p:ext uri="{BB962C8B-B14F-4D97-AF65-F5344CB8AC3E}">
        <p14:creationId xmlns:p14="http://schemas.microsoft.com/office/powerpoint/2010/main" val="3123166855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ACC36-0098-DDA8-D1C8-16A51AE47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Hierarchy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06E3B-CCE5-45B2-7458-9151E2EEDE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Theme / Initiative</a:t>
            </a:r>
          </a:p>
          <a:p>
            <a:pPr>
              <a:buFont typeface="+mj-lt"/>
              <a:buAutoNum type="arabicPeriod"/>
            </a:pPr>
            <a:r>
              <a:rPr lang="en-US" dirty="0"/>
              <a:t>Epic</a:t>
            </a:r>
          </a:p>
          <a:p>
            <a:pPr>
              <a:buFont typeface="+mj-lt"/>
              <a:buAutoNum type="arabicPeriod"/>
            </a:pPr>
            <a:r>
              <a:rPr lang="en-US" dirty="0"/>
              <a:t>User Story</a:t>
            </a:r>
          </a:p>
          <a:p>
            <a:pPr>
              <a:buFont typeface="+mj-lt"/>
              <a:buAutoNum type="arabicPeriod"/>
            </a:pPr>
            <a:r>
              <a:rPr lang="en-US" dirty="0"/>
              <a:t>Task</a:t>
            </a:r>
          </a:p>
          <a:p>
            <a:pPr>
              <a:buFont typeface="+mj-lt"/>
              <a:buAutoNum type="arabicPeriod"/>
            </a:pPr>
            <a:r>
              <a:rPr lang="en-US" dirty="0"/>
              <a:t>Subtask / Ticket—This is what you log your time against</a:t>
            </a:r>
          </a:p>
        </p:txBody>
      </p:sp>
    </p:spTree>
    <p:extLst>
      <p:ext uri="{BB962C8B-B14F-4D97-AF65-F5344CB8AC3E}">
        <p14:creationId xmlns:p14="http://schemas.microsoft.com/office/powerpoint/2010/main" val="486667142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ACC36-0098-DDA8-D1C8-16A51AE47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Hierarchy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06E3B-CCE5-45B2-7458-9151E2EEDE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Theme / Initiative</a:t>
            </a:r>
          </a:p>
          <a:p>
            <a:pPr lvl="1"/>
            <a:r>
              <a:rPr lang="en-US" strike="sngStrike" dirty="0"/>
              <a:t>Make more money off of grid pages</a:t>
            </a:r>
            <a:r>
              <a:rPr lang="en-US" dirty="0"/>
              <a:t> Make the grid page experience more delightful</a:t>
            </a:r>
          </a:p>
          <a:p>
            <a:pPr>
              <a:buFont typeface="+mj-lt"/>
              <a:buAutoNum type="arabicPeriod"/>
            </a:pPr>
            <a:r>
              <a:rPr lang="en-US" dirty="0"/>
              <a:t>Epic</a:t>
            </a:r>
          </a:p>
          <a:p>
            <a:pPr>
              <a:buFont typeface="+mj-lt"/>
              <a:buAutoNum type="arabicPeriod"/>
            </a:pPr>
            <a:r>
              <a:rPr lang="en-US" dirty="0"/>
              <a:t>User Story</a:t>
            </a:r>
          </a:p>
          <a:p>
            <a:pPr>
              <a:buFont typeface="+mj-lt"/>
              <a:buAutoNum type="arabicPeriod"/>
            </a:pPr>
            <a:r>
              <a:rPr lang="en-US" dirty="0"/>
              <a:t>Task</a:t>
            </a:r>
          </a:p>
          <a:p>
            <a:pPr>
              <a:buFont typeface="+mj-lt"/>
              <a:buAutoNum type="arabicPeriod"/>
            </a:pPr>
            <a:r>
              <a:rPr lang="en-US" dirty="0"/>
              <a:t>Subtask / Ticket—This is what you log your time against</a:t>
            </a:r>
          </a:p>
          <a:p>
            <a:pPr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750898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ACC36-0098-DDA8-D1C8-16A51AE47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Hierarchy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06E3B-CCE5-45B2-7458-9151E2EEDE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Font typeface="+mj-lt"/>
              <a:buAutoNum type="arabicPeriod"/>
            </a:pPr>
            <a:r>
              <a:rPr lang="en-US" dirty="0"/>
              <a:t>Theme / Initiative</a:t>
            </a:r>
          </a:p>
          <a:p>
            <a:pPr lvl="1"/>
            <a:r>
              <a:rPr lang="en-US" dirty="0"/>
              <a:t>Make more money off of grid pages</a:t>
            </a:r>
          </a:p>
          <a:p>
            <a:pPr>
              <a:buFont typeface="+mj-lt"/>
              <a:buAutoNum type="arabicPeriod"/>
            </a:pPr>
            <a:r>
              <a:rPr lang="en-US" dirty="0"/>
              <a:t>Epic</a:t>
            </a:r>
          </a:p>
          <a:p>
            <a:pPr lvl="1"/>
            <a:r>
              <a:rPr lang="en-US" dirty="0"/>
              <a:t>Make discovery “more fun”</a:t>
            </a:r>
          </a:p>
          <a:p>
            <a:pPr lvl="1"/>
            <a:r>
              <a:rPr lang="en-US" dirty="0"/>
              <a:t>Better faceting</a:t>
            </a:r>
          </a:p>
          <a:p>
            <a:pPr lvl="1"/>
            <a:r>
              <a:rPr lang="en-US" dirty="0"/>
              <a:t>Better recommendations</a:t>
            </a:r>
          </a:p>
          <a:p>
            <a:pPr lvl="1"/>
            <a:r>
              <a:rPr lang="en-US" dirty="0"/>
              <a:t>Something </a:t>
            </a:r>
            <a:r>
              <a:rPr lang="en-US" dirty="0" err="1"/>
              <a:t>something</a:t>
            </a:r>
            <a:r>
              <a:rPr lang="en-US" dirty="0"/>
              <a:t> deep learning</a:t>
            </a:r>
          </a:p>
          <a:p>
            <a:pPr lvl="1"/>
            <a:r>
              <a:rPr lang="en-US" dirty="0"/>
              <a:t>Speed</a:t>
            </a:r>
          </a:p>
          <a:p>
            <a:pPr>
              <a:buFont typeface="+mj-lt"/>
              <a:buAutoNum type="arabicPeriod"/>
            </a:pPr>
            <a:r>
              <a:rPr lang="en-US" dirty="0"/>
              <a:t>User Story</a:t>
            </a:r>
          </a:p>
          <a:p>
            <a:pPr>
              <a:buFont typeface="+mj-lt"/>
              <a:buAutoNum type="arabicPeriod"/>
            </a:pPr>
            <a:r>
              <a:rPr lang="en-US" dirty="0"/>
              <a:t>Task</a:t>
            </a:r>
          </a:p>
          <a:p>
            <a:pPr>
              <a:buFont typeface="+mj-lt"/>
              <a:buAutoNum type="arabicPeriod"/>
            </a:pPr>
            <a:r>
              <a:rPr lang="en-US" dirty="0"/>
              <a:t>Subtask / Ticket—This is what you log your time against</a:t>
            </a:r>
          </a:p>
          <a:p>
            <a:pPr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692481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ACC36-0098-DDA8-D1C8-16A51AE47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Hierarchy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06E3B-CCE5-45B2-7458-9151E2EEDE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+mj-lt"/>
              <a:buAutoNum type="arabicPeriod"/>
            </a:pPr>
            <a:r>
              <a:rPr lang="en-US" dirty="0"/>
              <a:t>Theme / Initiative</a:t>
            </a:r>
          </a:p>
          <a:p>
            <a:pPr lvl="1"/>
            <a:r>
              <a:rPr lang="en-US" dirty="0"/>
              <a:t>Make more money off of grid pages</a:t>
            </a:r>
          </a:p>
          <a:p>
            <a:pPr>
              <a:buFont typeface="+mj-lt"/>
              <a:buAutoNum type="arabicPeriod"/>
            </a:pPr>
            <a:r>
              <a:rPr lang="en-US" dirty="0"/>
              <a:t>Epic</a:t>
            </a:r>
          </a:p>
          <a:p>
            <a:pPr lvl="1"/>
            <a:r>
              <a:rPr lang="en-US" dirty="0"/>
              <a:t>Make discovery “more fun”</a:t>
            </a:r>
          </a:p>
          <a:p>
            <a:pPr>
              <a:buFont typeface="+mj-lt"/>
              <a:buAutoNum type="arabicPeriod"/>
            </a:pPr>
            <a:r>
              <a:rPr lang="en-US" dirty="0"/>
              <a:t>User Story</a:t>
            </a:r>
          </a:p>
          <a:p>
            <a:pPr lvl="1"/>
            <a:r>
              <a:rPr lang="en-US" dirty="0"/>
              <a:t>I am a cost-conscious user and I want to figure out what I can do in my price range</a:t>
            </a:r>
          </a:p>
          <a:p>
            <a:pPr lvl="1"/>
            <a:r>
              <a:rPr lang="en-US" dirty="0"/>
              <a:t>I am a power-user and I want to be “delighted” by my long tale searches</a:t>
            </a:r>
          </a:p>
          <a:p>
            <a:pPr lvl="1"/>
            <a:r>
              <a:rPr lang="en-US" dirty="0"/>
              <a:t>I am a frequent shopper and I just need something and I want to get replacement-level value fast</a:t>
            </a:r>
          </a:p>
          <a:p>
            <a:pPr>
              <a:buFont typeface="+mj-lt"/>
              <a:buAutoNum type="arabicPeriod"/>
            </a:pPr>
            <a:r>
              <a:rPr lang="en-US" dirty="0"/>
              <a:t>Task</a:t>
            </a:r>
          </a:p>
          <a:p>
            <a:pPr>
              <a:buFont typeface="+mj-lt"/>
              <a:buAutoNum type="arabicPeriod"/>
            </a:pPr>
            <a:r>
              <a:rPr lang="en-US" dirty="0"/>
              <a:t>Subtask / Ticket—This is what you log your time against</a:t>
            </a:r>
          </a:p>
          <a:p>
            <a:pPr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483418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ACC36-0098-DDA8-D1C8-16A51AE47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Hierarchy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06E3B-CCE5-45B2-7458-9151E2EEDE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+mj-lt"/>
              <a:buAutoNum type="arabicPeriod"/>
            </a:pPr>
            <a:r>
              <a:rPr lang="en-US" dirty="0"/>
              <a:t>Theme / Initiative</a:t>
            </a:r>
          </a:p>
          <a:p>
            <a:pPr lvl="1"/>
            <a:r>
              <a:rPr lang="en-US" dirty="0"/>
              <a:t>Make more money off of grid pages</a:t>
            </a:r>
          </a:p>
          <a:p>
            <a:pPr>
              <a:buFont typeface="+mj-lt"/>
              <a:buAutoNum type="arabicPeriod"/>
            </a:pPr>
            <a:r>
              <a:rPr lang="en-US" dirty="0"/>
              <a:t>Epic</a:t>
            </a:r>
          </a:p>
          <a:p>
            <a:pPr lvl="1"/>
            <a:r>
              <a:rPr lang="en-US" dirty="0"/>
              <a:t>Make discovery “more fun”</a:t>
            </a:r>
          </a:p>
          <a:p>
            <a:pPr>
              <a:buFont typeface="+mj-lt"/>
              <a:buAutoNum type="arabicPeriod"/>
            </a:pPr>
            <a:r>
              <a:rPr lang="en-US" dirty="0"/>
              <a:t>User Story</a:t>
            </a:r>
          </a:p>
          <a:p>
            <a:pPr lvl="1"/>
            <a:r>
              <a:rPr lang="en-US" dirty="0"/>
              <a:t>I am a frequent shopper and I just need something and I want to get replacement-level value fast</a:t>
            </a:r>
          </a:p>
          <a:p>
            <a:pPr>
              <a:buFont typeface="+mj-lt"/>
              <a:buAutoNum type="arabicPeriod"/>
            </a:pPr>
            <a:r>
              <a:rPr lang="en-US" dirty="0"/>
              <a:t>Task</a:t>
            </a:r>
          </a:p>
          <a:p>
            <a:pPr lvl="1"/>
            <a:r>
              <a:rPr lang="en-US" dirty="0"/>
              <a:t>Increase product review visibility</a:t>
            </a:r>
          </a:p>
          <a:p>
            <a:pPr lvl="1"/>
            <a:r>
              <a:rPr lang="en-US" dirty="0"/>
              <a:t>Improve customers also viewed / customers ultimately bought experience</a:t>
            </a:r>
          </a:p>
          <a:p>
            <a:pPr lvl="1"/>
            <a:r>
              <a:rPr lang="en-US" dirty="0"/>
              <a:t>Better personalized recommendations</a:t>
            </a:r>
          </a:p>
          <a:p>
            <a:pPr lvl="1"/>
            <a:r>
              <a:rPr lang="en-US" dirty="0"/>
              <a:t>Better product “categorization”</a:t>
            </a:r>
          </a:p>
          <a:p>
            <a:r>
              <a:rPr lang="en-US" dirty="0"/>
              <a:t>Subtask / Ticket—This is what you log your time against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250063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ACC36-0098-DDA8-D1C8-16A51AE47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Hierarchy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06E3B-CCE5-45B2-7458-9151E2EEDE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+mj-lt"/>
              <a:buAutoNum type="arabicPeriod"/>
            </a:pPr>
            <a:r>
              <a:rPr lang="en-US" dirty="0"/>
              <a:t>Theme / Initiative</a:t>
            </a:r>
          </a:p>
          <a:p>
            <a:pPr lvl="1"/>
            <a:r>
              <a:rPr lang="en-US" dirty="0"/>
              <a:t>Make more money off of grid pages</a:t>
            </a:r>
          </a:p>
          <a:p>
            <a:pPr>
              <a:buFont typeface="+mj-lt"/>
              <a:buAutoNum type="arabicPeriod"/>
            </a:pPr>
            <a:r>
              <a:rPr lang="en-US" dirty="0"/>
              <a:t>Epic</a:t>
            </a:r>
          </a:p>
          <a:p>
            <a:pPr lvl="1"/>
            <a:r>
              <a:rPr lang="en-US" dirty="0"/>
              <a:t>Make discovery “more fun”</a:t>
            </a:r>
          </a:p>
          <a:p>
            <a:pPr>
              <a:buFont typeface="+mj-lt"/>
              <a:buAutoNum type="arabicPeriod"/>
            </a:pPr>
            <a:r>
              <a:rPr lang="en-US" dirty="0"/>
              <a:t>User Story</a:t>
            </a:r>
          </a:p>
          <a:p>
            <a:pPr lvl="1"/>
            <a:r>
              <a:rPr lang="en-US" dirty="0"/>
              <a:t>I am a frequent shopper and I just need something and I want to get replacement-level value fast</a:t>
            </a:r>
          </a:p>
          <a:p>
            <a:pPr>
              <a:buFont typeface="+mj-lt"/>
              <a:buAutoNum type="arabicPeriod"/>
            </a:pPr>
            <a:r>
              <a:rPr lang="en-US" dirty="0"/>
              <a:t>Task</a:t>
            </a:r>
          </a:p>
          <a:p>
            <a:pPr lvl="1"/>
            <a:r>
              <a:rPr lang="en-US" dirty="0"/>
              <a:t>Increase product review visibility</a:t>
            </a:r>
          </a:p>
          <a:p>
            <a:r>
              <a:rPr lang="en-US" dirty="0"/>
              <a:t>Subtask / Ticket—This is what you log your time against</a:t>
            </a:r>
          </a:p>
          <a:p>
            <a:pPr lvl="1"/>
            <a:r>
              <a:rPr lang="en-US" dirty="0"/>
              <a:t>Increase font size backend</a:t>
            </a:r>
          </a:p>
          <a:p>
            <a:pPr lvl="1"/>
            <a:r>
              <a:rPr lang="en-US" dirty="0"/>
              <a:t>Color picker backend</a:t>
            </a:r>
          </a:p>
          <a:p>
            <a:pPr lvl="1"/>
            <a:r>
              <a:rPr lang="en-US" dirty="0"/>
              <a:t>Launch color / font size A/B test</a:t>
            </a:r>
          </a:p>
          <a:p>
            <a:pPr lvl="1"/>
            <a:r>
              <a:rPr lang="en-US" dirty="0"/>
              <a:t>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362491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193D5-63C7-9BAC-736F-0D5F109AE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Ticket Metadata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C1D07-6B00-233F-F3E0-5E35996AF8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Points</a:t>
            </a:r>
          </a:p>
          <a:p>
            <a:pPr lvl="1"/>
            <a:r>
              <a:rPr lang="en-US" dirty="0"/>
              <a:t>0.5, 1, 2, 3, 5, 8, 13, ∞</a:t>
            </a:r>
          </a:p>
          <a:p>
            <a:pPr lvl="1"/>
            <a:r>
              <a:rPr lang="en-US" dirty="0"/>
              <a:t>Relative effort for replacement level engineer</a:t>
            </a:r>
          </a:p>
          <a:p>
            <a:pPr lvl="2"/>
            <a:r>
              <a:rPr lang="en-US" b="1" dirty="0"/>
              <a:t>This is NOT engineer-days!!!!!!!!!</a:t>
            </a:r>
          </a:p>
          <a:p>
            <a:r>
              <a:rPr lang="en-US" dirty="0"/>
              <a:t>Team member</a:t>
            </a:r>
          </a:p>
          <a:p>
            <a:r>
              <a:rPr lang="en-US" dirty="0"/>
              <a:t>Status (to do; in progress; in review / blocked; done)</a:t>
            </a:r>
          </a:p>
          <a:p>
            <a:r>
              <a:rPr lang="en-US" dirty="0"/>
              <a:t>Notes</a:t>
            </a:r>
          </a:p>
          <a:p>
            <a:r>
              <a:rPr lang="en-US" dirty="0"/>
              <a:t>Time logged</a:t>
            </a:r>
          </a:p>
          <a:p>
            <a:r>
              <a:rPr lang="en-US" dirty="0"/>
              <a:t>Time on backlog</a:t>
            </a:r>
          </a:p>
          <a:p>
            <a:r>
              <a:rPr lang="en-US" dirty="0"/>
              <a:t>Sprints active</a:t>
            </a:r>
          </a:p>
        </p:txBody>
      </p:sp>
    </p:spTree>
    <p:extLst>
      <p:ext uri="{BB962C8B-B14F-4D97-AF65-F5344CB8AC3E}">
        <p14:creationId xmlns:p14="http://schemas.microsoft.com/office/powerpoint/2010/main" val="3922114008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4CFCA-78B4-215D-E1AE-E425AF37B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Backlog—not your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7DBCB-F7DA-3D11-AB10-971AC7B06C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Priority queue of tickets</a:t>
            </a:r>
          </a:p>
          <a:p>
            <a:r>
              <a:rPr lang="en-US" dirty="0"/>
              <a:t>Managing this 90+% of what a PM does</a:t>
            </a:r>
          </a:p>
        </p:txBody>
      </p:sp>
    </p:spTree>
    <p:extLst>
      <p:ext uri="{BB962C8B-B14F-4D97-AF65-F5344CB8AC3E}">
        <p14:creationId xmlns:p14="http://schemas.microsoft.com/office/powerpoint/2010/main" val="2616824981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C1F27-914C-FC19-FC25-A6EDEC549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sprint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639C0-7698-0049-165E-A81AE292E7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week cycles of active tickets</a:t>
            </a:r>
          </a:p>
          <a:p>
            <a:r>
              <a:rPr lang="en-US" dirty="0"/>
              <a:t>Allows PM / engineers to say “no” to new asks</a:t>
            </a:r>
          </a:p>
          <a:p>
            <a:pPr lvl="1"/>
            <a:r>
              <a:rPr lang="en-US" dirty="0"/>
              <a:t> “Sorry, I already have all my time allocated for this sprint. Talk to the PM about getting it off the backlog.”</a:t>
            </a:r>
          </a:p>
        </p:txBody>
      </p:sp>
    </p:spTree>
    <p:extLst>
      <p:ext uri="{BB962C8B-B14F-4D97-AF65-F5344CB8AC3E}">
        <p14:creationId xmlns:p14="http://schemas.microsoft.com/office/powerpoint/2010/main" val="3127023519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D812F-E328-FD38-7934-143676469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Sprint Planning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2170A-4BFC-2405-80C8-9DE7FA561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last sprint (next slide)</a:t>
            </a:r>
          </a:p>
          <a:p>
            <a:r>
              <a:rPr lang="en-US" dirty="0"/>
              <a:t>Review status of in progress; in review / blocked tickets</a:t>
            </a:r>
          </a:p>
          <a:p>
            <a:r>
              <a:rPr lang="en-US" dirty="0"/>
              <a:t>The PM brings a list of tickets they want to get on the sprint</a:t>
            </a:r>
          </a:p>
          <a:p>
            <a:pPr lvl="1"/>
            <a:r>
              <a:rPr lang="en-US" dirty="0"/>
              <a:t>Old tickets carry-over or are killed</a:t>
            </a:r>
          </a:p>
          <a:p>
            <a:pPr lvl="1"/>
            <a:r>
              <a:rPr lang="en-US" dirty="0"/>
              <a:t>Team members vote on which ones go on the sprint</a:t>
            </a:r>
          </a:p>
          <a:p>
            <a:r>
              <a:rPr lang="en-US" dirty="0"/>
              <a:t>Tickets are assigned to team members until everyone has a sprint’s worth of points</a:t>
            </a:r>
          </a:p>
          <a:p>
            <a:r>
              <a:rPr lang="en-US" dirty="0"/>
              <a:t>One person is on the </a:t>
            </a:r>
            <a:r>
              <a:rPr lang="en-US" dirty="0" err="1"/>
              <a:t>criticals</a:t>
            </a:r>
            <a:r>
              <a:rPr lang="en-US" dirty="0"/>
              <a:t> rotation. There are a few low priority tickets they will work on when they aren’t putting </a:t>
            </a:r>
            <a:r>
              <a:rPr lang="en-US"/>
              <a:t>out fires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19132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259A2-4BA1-4F75-FB87-C469BEB1D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Sprint Board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A45B5-E927-BC63-D76A-87D4CCCCD8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4A9867-EB62-6532-9E43-C781B28E2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466" y="2780391"/>
            <a:ext cx="10971071" cy="213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823547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37388-A722-72ED-85CF-763A2A378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Burn Down Charts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244FE2A6-FA37-2BDB-80B1-D9A336282466}"/>
              </a:ext>
            </a:extLst>
          </p:cNvPr>
          <p:cNvSpPr>
            <a:spLocks noGrp="1" noChangeAspect="1" noChangeArrowheads="1"/>
          </p:cNvSpPr>
          <p:nvPr>
            <p:ph type="body"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  <a:normAutofit/>
          </a:bodyPr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BD217C-5B13-48BA-20E9-8CB481D0E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659" y="1604683"/>
            <a:ext cx="5794213" cy="42567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5E559FA-6011-951A-74A3-9A9FC477939F}"/>
              </a:ext>
            </a:extLst>
          </p:cNvPr>
          <p:cNvSpPr txBox="1"/>
          <p:nvPr/>
        </p:nvSpPr>
        <p:spPr>
          <a:xfrm>
            <a:off x="3316941" y="609183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linkClick r:id="rId3"/>
              </a:rPr>
              <a:t>What is a Burndown Chart? (villanovau.com)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11733375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B29CE-3FBB-B79C-F7C5-84F3F5A6C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Stand-ups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212614-9939-9355-1FC4-B245333174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It’s a stand-up, not a sit-down—keep it brief</a:t>
            </a:r>
          </a:p>
          <a:p>
            <a:pPr lvl="1"/>
            <a:r>
              <a:rPr lang="en-US" dirty="0"/>
              <a:t>“Let’s take </a:t>
            </a:r>
            <a:r>
              <a:rPr lang="en-US"/>
              <a:t>it offline”</a:t>
            </a:r>
            <a:endParaRPr lang="en-US" dirty="0"/>
          </a:p>
          <a:p>
            <a:r>
              <a:rPr lang="en-US" dirty="0"/>
              <a:t>Can be in-person or async by a certain time of day </a:t>
            </a:r>
          </a:p>
          <a:p>
            <a:pPr lvl="1"/>
            <a:r>
              <a:rPr lang="en-US" dirty="0"/>
              <a:t>e.g. dedicated slack channel</a:t>
            </a:r>
          </a:p>
          <a:p>
            <a:r>
              <a:rPr lang="en-US" dirty="0"/>
              <a:t>In 2/3 minutes summarize:</a:t>
            </a:r>
          </a:p>
          <a:p>
            <a:pPr lvl="1"/>
            <a:r>
              <a:rPr lang="en-US" dirty="0"/>
              <a:t>What you are working on</a:t>
            </a:r>
          </a:p>
          <a:p>
            <a:pPr lvl="1"/>
            <a:r>
              <a:rPr lang="en-US" dirty="0"/>
              <a:t>What you’ve been doing</a:t>
            </a:r>
          </a:p>
          <a:p>
            <a:pPr lvl="1"/>
            <a:r>
              <a:rPr lang="en-US" dirty="0"/>
              <a:t>What you are going to do</a:t>
            </a:r>
          </a:p>
          <a:p>
            <a:pPr lvl="1"/>
            <a:r>
              <a:rPr lang="en-US" dirty="0"/>
              <a:t>Blockers</a:t>
            </a:r>
          </a:p>
          <a:p>
            <a:pPr lvl="1"/>
            <a:r>
              <a:rPr lang="en-US" dirty="0"/>
              <a:t>Risks</a:t>
            </a:r>
          </a:p>
          <a:p>
            <a:r>
              <a:rPr lang="en-US" dirty="0"/>
              <a:t>If you can’t just do this, that’s a “smell”</a:t>
            </a:r>
          </a:p>
          <a:p>
            <a:r>
              <a:rPr lang="en-US" dirty="0"/>
              <a:t>Fun team activity</a:t>
            </a:r>
          </a:p>
        </p:txBody>
      </p:sp>
    </p:spTree>
    <p:extLst>
      <p:ext uri="{BB962C8B-B14F-4D97-AF65-F5344CB8AC3E}">
        <p14:creationId xmlns:p14="http://schemas.microsoft.com/office/powerpoint/2010/main" val="210951892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D80E3-DAB3-E267-C9F0-D65636632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Goal—</a:t>
            </a:r>
            <a:r>
              <a:rPr lang="en-US" dirty="0" err="1"/>
              <a:t>Kanbans</a:t>
            </a:r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BCA4B-EC84-E277-B91E-F9B7ED0EA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exactly do I want to have happen?</a:t>
            </a:r>
          </a:p>
          <a:p>
            <a:pPr lvl="1"/>
            <a:r>
              <a:rPr lang="en-US" dirty="0"/>
              <a:t>Maximize throughput of “low effort” tasks</a:t>
            </a:r>
          </a:p>
          <a:p>
            <a:pPr lvl="2"/>
            <a:r>
              <a:rPr lang="en-US" dirty="0"/>
              <a:t>Low effort in the sense of not many points, rather than easy </a:t>
            </a:r>
          </a:p>
          <a:p>
            <a:r>
              <a:rPr lang="en-US" dirty="0"/>
              <a:t>How will I know if it worked?</a:t>
            </a:r>
          </a:p>
        </p:txBody>
      </p:sp>
    </p:spTree>
    <p:extLst>
      <p:ext uri="{BB962C8B-B14F-4D97-AF65-F5344CB8AC3E}">
        <p14:creationId xmlns:p14="http://schemas.microsoft.com/office/powerpoint/2010/main" val="2245635297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D80E3-DAB3-E267-C9F0-D65636632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Goal—</a:t>
            </a:r>
            <a:r>
              <a:rPr lang="en-US" dirty="0" err="1"/>
              <a:t>Kanbans</a:t>
            </a:r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BCA4B-EC84-E277-B91E-F9B7ED0EA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exactly do I want to have happen?</a:t>
            </a:r>
          </a:p>
          <a:p>
            <a:pPr lvl="1"/>
            <a:r>
              <a:rPr lang="en-US" dirty="0"/>
              <a:t>Maximize throughput of “low effort” tasks</a:t>
            </a:r>
          </a:p>
          <a:p>
            <a:pPr lvl="2"/>
            <a:r>
              <a:rPr lang="en-US" dirty="0"/>
              <a:t>Low effort in the sense of not many points, rather than easy </a:t>
            </a:r>
          </a:p>
          <a:p>
            <a:r>
              <a:rPr lang="en-US" dirty="0"/>
              <a:t>How will I know if it worked?</a:t>
            </a:r>
          </a:p>
          <a:p>
            <a:pPr lvl="1"/>
            <a:r>
              <a:rPr lang="en-US" dirty="0"/>
              <a:t>Priority queue remains manageable over time</a:t>
            </a:r>
          </a:p>
        </p:txBody>
      </p:sp>
    </p:spTree>
    <p:extLst>
      <p:ext uri="{BB962C8B-B14F-4D97-AF65-F5344CB8AC3E}">
        <p14:creationId xmlns:p14="http://schemas.microsoft.com/office/powerpoint/2010/main" val="2626013652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37A5E-60B1-701C-E1B5-12AFE66B0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Kanbans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BB5469-01D6-9FA4-4372-332D38349B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610C93-B9AA-0121-72FB-E5195C6F0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520" y="2483222"/>
            <a:ext cx="10406960" cy="17421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348AF3-8F51-8FA0-A187-1533280AF8B9}"/>
              </a:ext>
            </a:extLst>
          </p:cNvPr>
          <p:cNvSpPr txBox="1"/>
          <p:nvPr/>
        </p:nvSpPr>
        <p:spPr>
          <a:xfrm>
            <a:off x="3917576" y="4623740"/>
            <a:ext cx="519056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/>
              <a:t>When you’re done with the current ticket, pull the next one off the priority queue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/>
              <a:t>Anyone can do any ticket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/>
              <a:t>No backlog</a:t>
            </a:r>
          </a:p>
        </p:txBody>
      </p:sp>
    </p:spTree>
    <p:extLst>
      <p:ext uri="{BB962C8B-B14F-4D97-AF65-F5344CB8AC3E}">
        <p14:creationId xmlns:p14="http://schemas.microsoft.com/office/powerpoint/2010/main" val="2435174759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F7F55-10A8-0C10-475E-8C63D91E7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Effort over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6F28B-3D83-94AA-A8F2-5252BE492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E1521EC1-F0D7-132D-2E69-86A37B637F50}"/>
              </a:ext>
            </a:extLst>
          </p:cNvPr>
          <p:cNvSpPr/>
          <p:nvPr/>
        </p:nvSpPr>
        <p:spPr>
          <a:xfrm>
            <a:off x="2705099" y="1873247"/>
            <a:ext cx="6781801" cy="4438653"/>
          </a:xfrm>
          <a:prstGeom prst="rect">
            <a:avLst/>
          </a:prstGeom>
          <a:solidFill>
            <a:srgbClr val="96E3FE"/>
          </a:solidFill>
          <a:ln w="12700">
            <a:miter lim="400000"/>
          </a:ln>
          <a:effectLst>
            <a:outerShdw blurRad="63500" dist="71842" dir="2700000" rotWithShape="0">
              <a:srgbClr val="EAEAEA"/>
            </a:outerShdw>
          </a:effectLst>
        </p:spPr>
        <p:txBody>
          <a:bodyPr lIns="45718" tIns="45718" rIns="45718" bIns="45718" anchor="ctr"/>
          <a:lstStyle/>
          <a:p>
            <a:pPr>
              <a:defRPr sz="1800"/>
            </a:pPr>
            <a:endParaRPr/>
          </a:p>
        </p:txBody>
      </p:sp>
      <p:pic>
        <p:nvPicPr>
          <p:cNvPr id="5" name="image1.png" descr="image1.png">
            <a:extLst>
              <a:ext uri="{FF2B5EF4-FFF2-40B4-BE49-F238E27FC236}">
                <a16:creationId xmlns:a16="http://schemas.microsoft.com/office/drawing/2014/main" id="{559F4113-4DD4-206C-2AA1-658B05689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587" y="2067083"/>
            <a:ext cx="6600825" cy="4208463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CB7197-1402-CDA5-AFBF-C742E9A4312D}"/>
              </a:ext>
            </a:extLst>
          </p:cNvPr>
          <p:cNvSpPr txBox="1"/>
          <p:nvPr/>
        </p:nvSpPr>
        <p:spPr>
          <a:xfrm>
            <a:off x="2705099" y="2579299"/>
            <a:ext cx="887892" cy="461665"/>
          </a:xfrm>
          <a:prstGeom prst="rect">
            <a:avLst/>
          </a:prstGeom>
          <a:solidFill>
            <a:srgbClr val="96E3FE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Effort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03164D-5113-8D05-9F12-F2CA7A6B02D6}"/>
              </a:ext>
            </a:extLst>
          </p:cNvPr>
          <p:cNvSpPr/>
          <p:nvPr/>
        </p:nvSpPr>
        <p:spPr>
          <a:xfrm>
            <a:off x="4373593" y="2025623"/>
            <a:ext cx="3217652" cy="553675"/>
          </a:xfrm>
          <a:prstGeom prst="rect">
            <a:avLst/>
          </a:prstGeom>
          <a:solidFill>
            <a:srgbClr val="96E3FE"/>
          </a:solidFill>
          <a:ln w="38100">
            <a:solidFill>
              <a:srgbClr val="96E3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New business cases</a:t>
            </a:r>
          </a:p>
          <a:p>
            <a:r>
              <a:rPr lang="en-US" dirty="0">
                <a:solidFill>
                  <a:schemeClr val="tx1"/>
                </a:solidFill>
              </a:rPr>
              <a:t>Side effects from other projects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101022-86A6-5219-D47C-E55B6AE93FC8}"/>
              </a:ext>
            </a:extLst>
          </p:cNvPr>
          <p:cNvSpPr/>
          <p:nvPr/>
        </p:nvSpPr>
        <p:spPr>
          <a:xfrm>
            <a:off x="4019279" y="1984075"/>
            <a:ext cx="3917023" cy="1056889"/>
          </a:xfrm>
          <a:prstGeom prst="rect">
            <a:avLst/>
          </a:prstGeom>
          <a:solidFill>
            <a:srgbClr val="96E3FE"/>
          </a:solidFill>
          <a:ln w="38100">
            <a:solidFill>
              <a:srgbClr val="96E3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DC7FC8-F70B-9F5D-0395-201A9FF21285}"/>
              </a:ext>
            </a:extLst>
          </p:cNvPr>
          <p:cNvSpPr/>
          <p:nvPr/>
        </p:nvSpPr>
        <p:spPr>
          <a:xfrm>
            <a:off x="4096377" y="2595527"/>
            <a:ext cx="4141849" cy="1056889"/>
          </a:xfrm>
          <a:prstGeom prst="rect">
            <a:avLst/>
          </a:prstGeom>
          <a:solidFill>
            <a:srgbClr val="96E3FE"/>
          </a:solidFill>
          <a:ln w="38100">
            <a:solidFill>
              <a:srgbClr val="96E3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5C484B-297A-6901-2358-0F12ABDEA8D4}"/>
              </a:ext>
            </a:extLst>
          </p:cNvPr>
          <p:cNvSpPr/>
          <p:nvPr/>
        </p:nvSpPr>
        <p:spPr>
          <a:xfrm>
            <a:off x="4220741" y="2900555"/>
            <a:ext cx="4759357" cy="1056889"/>
          </a:xfrm>
          <a:prstGeom prst="rect">
            <a:avLst/>
          </a:prstGeom>
          <a:solidFill>
            <a:srgbClr val="96E3FE"/>
          </a:solidFill>
          <a:ln w="38100">
            <a:solidFill>
              <a:srgbClr val="96E3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E05BBD7-5622-D49F-B388-FB99438E8F8C}"/>
              </a:ext>
            </a:extLst>
          </p:cNvPr>
          <p:cNvSpPr/>
          <p:nvPr/>
        </p:nvSpPr>
        <p:spPr>
          <a:xfrm>
            <a:off x="4345105" y="3428999"/>
            <a:ext cx="4759357" cy="1056889"/>
          </a:xfrm>
          <a:prstGeom prst="rect">
            <a:avLst/>
          </a:prstGeom>
          <a:solidFill>
            <a:srgbClr val="96E3FE"/>
          </a:solidFill>
          <a:ln w="38100">
            <a:solidFill>
              <a:srgbClr val="96E3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1319F2-F397-665B-EF42-C91E0E582D93}"/>
              </a:ext>
            </a:extLst>
          </p:cNvPr>
          <p:cNvSpPr/>
          <p:nvPr/>
        </p:nvSpPr>
        <p:spPr>
          <a:xfrm>
            <a:off x="4650487" y="3846252"/>
            <a:ext cx="4759357" cy="1056889"/>
          </a:xfrm>
          <a:prstGeom prst="rect">
            <a:avLst/>
          </a:prstGeom>
          <a:solidFill>
            <a:srgbClr val="96E3FE"/>
          </a:solidFill>
          <a:ln w="38100">
            <a:solidFill>
              <a:srgbClr val="96E3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BF5683-BBB7-760E-9F15-72F9D1439485}"/>
              </a:ext>
            </a:extLst>
          </p:cNvPr>
          <p:cNvSpPr/>
          <p:nvPr/>
        </p:nvSpPr>
        <p:spPr>
          <a:xfrm>
            <a:off x="4886185" y="4190590"/>
            <a:ext cx="4342641" cy="1056889"/>
          </a:xfrm>
          <a:prstGeom prst="rect">
            <a:avLst/>
          </a:prstGeom>
          <a:solidFill>
            <a:srgbClr val="96E3FE"/>
          </a:solidFill>
          <a:ln w="38100">
            <a:solidFill>
              <a:srgbClr val="96E3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4BFC850-600F-DA1D-B8B6-F80288594986}"/>
              </a:ext>
            </a:extLst>
          </p:cNvPr>
          <p:cNvCxnSpPr>
            <a:cxnSpLocks/>
          </p:cNvCxnSpPr>
          <p:nvPr/>
        </p:nvCxnSpPr>
        <p:spPr>
          <a:xfrm flipV="1">
            <a:off x="4373593" y="5719313"/>
            <a:ext cx="1017916" cy="37187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73031760-88BD-D01C-5961-A17AC552F700}"/>
              </a:ext>
            </a:extLst>
          </p:cNvPr>
          <p:cNvSpPr/>
          <p:nvPr/>
        </p:nvSpPr>
        <p:spPr>
          <a:xfrm>
            <a:off x="2667966" y="5941771"/>
            <a:ext cx="1820173" cy="388035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Deployment</a:t>
            </a:r>
          </a:p>
        </p:txBody>
      </p:sp>
    </p:spTree>
    <p:extLst>
      <p:ext uri="{BB962C8B-B14F-4D97-AF65-F5344CB8AC3E}">
        <p14:creationId xmlns:p14="http://schemas.microsoft.com/office/powerpoint/2010/main" val="3858543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51</a:t>
            </a:fld>
            <a:endParaRPr/>
          </a:p>
        </p:txBody>
      </p:sp>
      <p:sp>
        <p:nvSpPr>
          <p:cNvPr id="348" name="Based on software reuse where systems are integrated from existing components or application systems (sometimes called COTS -Commercial-off-the-shelf) systems)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Based on 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software reuse</a:t>
            </a:r>
            <a:r>
              <a:t> where systems are integrated from existing components or application systems (sometimes called COTS -Commercial-off-the-shelf) systems).</a:t>
            </a:r>
          </a:p>
          <a:p>
            <a:r>
              <a:t>Reused elements may be configured to adapt their behaviour and functionality to a user’s requirements</a:t>
            </a:r>
          </a:p>
          <a:p>
            <a:r>
              <a:t>Reuse is now the standard approach for building many types of business system</a:t>
            </a:r>
          </a:p>
          <a:p>
            <a:pPr marL="774700" lvl="1" indent="-317500">
              <a:spcBef>
                <a:spcPts val="300"/>
              </a:spcBef>
              <a:defRPr sz="2000"/>
            </a:pPr>
            <a:r>
              <a:t>Reuse covered in more depth in Chapter 15.</a:t>
            </a:r>
          </a:p>
        </p:txBody>
      </p:sp>
      <p:sp>
        <p:nvSpPr>
          <p:cNvPr id="349" name="Integration and configur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Integration and configuration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52</a:t>
            </a:fld>
            <a:endParaRPr/>
          </a:p>
        </p:txBody>
      </p:sp>
      <p:sp>
        <p:nvSpPr>
          <p:cNvPr id="352" name="Stand-alone application systems (sometimes called COTS) that are configured for use in a particular environment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Stand-alone application systems (sometimes called COTS) that are configured for use in a particular environment.</a:t>
            </a:r>
          </a:p>
          <a:p>
            <a:r>
              <a:t>Collections of objects that are developed as a package to be integrated with a component framework such as .NET or J2EE.</a:t>
            </a:r>
          </a:p>
          <a:p>
            <a:r>
              <a:t>Web services that are developed according to service standards and which are available for remote invocation. </a:t>
            </a:r>
          </a:p>
        </p:txBody>
      </p:sp>
      <p:sp>
        <p:nvSpPr>
          <p:cNvPr id="353" name="Types of reusable softwa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Types of reusable software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53</a:t>
            </a:fld>
            <a:endParaRPr/>
          </a:p>
        </p:txBody>
      </p:sp>
      <p:sp>
        <p:nvSpPr>
          <p:cNvPr id="356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57" name="Reuse-oriented software engineer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Reuse-oriented software engineering</a:t>
            </a:r>
          </a:p>
        </p:txBody>
      </p:sp>
      <p:pic>
        <p:nvPicPr>
          <p:cNvPr id="358" name="2.3 Reuse oriented SE.eps" descr="2.3 Reuse oriented SE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551" y="2326733"/>
            <a:ext cx="8793575" cy="365468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54</a:t>
            </a:fld>
            <a:endParaRPr/>
          </a:p>
        </p:txBody>
      </p:sp>
      <p:sp>
        <p:nvSpPr>
          <p:cNvPr id="361" name="Reduced costs and risks as less software is developed from scratch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Reduced costs and risks as less software is developed from scratch</a:t>
            </a:r>
          </a:p>
          <a:p>
            <a:r>
              <a:t>Faster delivery and deployment of system</a:t>
            </a:r>
          </a:p>
          <a:p>
            <a:r>
              <a:t>But requirements compromises are inevitable so system may not meet real needs of users</a:t>
            </a:r>
          </a:p>
          <a:p>
            <a:r>
              <a:t>Loss of control over evolution of reused system elements</a:t>
            </a:r>
          </a:p>
        </p:txBody>
      </p:sp>
      <p:sp>
        <p:nvSpPr>
          <p:cNvPr id="362" name="Advantages and disadvantag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Advantages and disadvantages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Chapter 2 Software Processes"/>
          <p:cNvSpPr txBox="1"/>
          <p:nvPr/>
        </p:nvSpPr>
        <p:spPr>
          <a:xfrm>
            <a:off x="4648200" y="6400414"/>
            <a:ext cx="2895600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t>Chapter 2 Software Processes</a:t>
            </a:r>
          </a:p>
        </p:txBody>
      </p:sp>
      <p:sp>
        <p:nvSpPr>
          <p:cNvPr id="3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55</a:t>
            </a:fld>
            <a:endParaRPr/>
          </a:p>
        </p:txBody>
      </p:sp>
      <p:sp>
        <p:nvSpPr>
          <p:cNvPr id="366" name="Rather than deliver the system as a single delivery, the development and delivery is broken down into increments with each increment delivering part of the required functionality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Rather than deliver the system as a single delivery, the development and delivery is broken down into increments with each increment delivering part of the required functionality.</a:t>
            </a:r>
          </a:p>
          <a:p>
            <a:r>
              <a:t>User requirements are prioritised and the highest priority requirements are included in early increments.</a:t>
            </a:r>
          </a:p>
          <a:p>
            <a:r>
              <a:t>Once the development of an increment is started, the requirements are frozen though requirements for later increments can continue to evolve.</a:t>
            </a:r>
          </a:p>
        </p:txBody>
      </p:sp>
      <p:sp>
        <p:nvSpPr>
          <p:cNvPr id="367" name="Incremental deliver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Incremental delivery</a:t>
            </a:r>
          </a:p>
        </p:txBody>
      </p:sp>
      <p:sp>
        <p:nvSpPr>
          <p:cNvPr id="368" name="30/10/2014"/>
          <p:cNvSpPr txBox="1"/>
          <p:nvPr/>
        </p:nvSpPr>
        <p:spPr>
          <a:xfrm>
            <a:off x="1981200" y="6400414"/>
            <a:ext cx="2133600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r>
              <a:t>30/10/2014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Chapter 2 Software Processes"/>
          <p:cNvSpPr txBox="1"/>
          <p:nvPr/>
        </p:nvSpPr>
        <p:spPr>
          <a:xfrm>
            <a:off x="4648200" y="6400414"/>
            <a:ext cx="2895600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t>Chapter 2 Software Processes</a:t>
            </a:r>
          </a:p>
        </p:txBody>
      </p:sp>
      <p:sp>
        <p:nvSpPr>
          <p:cNvPr id="37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56</a:t>
            </a:fld>
            <a:endParaRPr/>
          </a:p>
        </p:txBody>
      </p:sp>
      <p:sp>
        <p:nvSpPr>
          <p:cNvPr id="372" name="Incremental development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Incremental development</a:t>
            </a:r>
          </a:p>
          <a:p>
            <a:pPr marL="774700" lvl="1" indent="-317500">
              <a:spcBef>
                <a:spcPts val="300"/>
              </a:spcBef>
              <a:defRPr sz="2000"/>
            </a:pPr>
            <a:r>
              <a:t>Develop the system in increments and evaluate each increment before proceeding to the development of the next increment;</a:t>
            </a:r>
          </a:p>
          <a:p>
            <a:pPr marL="774700" lvl="1" indent="-317500">
              <a:spcBef>
                <a:spcPts val="300"/>
              </a:spcBef>
              <a:defRPr sz="2000"/>
            </a:pPr>
            <a:r>
              <a:t>Normal approach used in agile methods;</a:t>
            </a:r>
          </a:p>
          <a:p>
            <a:pPr marL="774700" lvl="1" indent="-317500">
              <a:spcBef>
                <a:spcPts val="300"/>
              </a:spcBef>
              <a:defRPr sz="2000"/>
            </a:pPr>
            <a:r>
              <a:t>Evaluation done by user/customer proxy.</a:t>
            </a:r>
          </a:p>
          <a:p>
            <a:r>
              <a:t>Incremental delivery</a:t>
            </a:r>
          </a:p>
          <a:p>
            <a:pPr marL="774700" lvl="1" indent="-317500">
              <a:spcBef>
                <a:spcPts val="300"/>
              </a:spcBef>
              <a:defRPr sz="2000"/>
            </a:pPr>
            <a:r>
              <a:t>Deploy an increment for use by end-users;</a:t>
            </a:r>
          </a:p>
          <a:p>
            <a:pPr marL="774700" lvl="1" indent="-317500">
              <a:spcBef>
                <a:spcPts val="300"/>
              </a:spcBef>
              <a:defRPr sz="2000"/>
            </a:pPr>
            <a:r>
              <a:t>More realistic evaluation about practical use of software;</a:t>
            </a:r>
          </a:p>
          <a:p>
            <a:pPr marL="774700" lvl="1" indent="-317500">
              <a:spcBef>
                <a:spcPts val="300"/>
              </a:spcBef>
              <a:defRPr sz="2000"/>
            </a:pPr>
            <a:r>
              <a:t>Difficult to implement for replacement systems as increments have less functionality than the system being replaced.</a:t>
            </a:r>
          </a:p>
        </p:txBody>
      </p:sp>
      <p:sp>
        <p:nvSpPr>
          <p:cNvPr id="373" name="Incremental development and deliver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Incremental development </a:t>
            </a:r>
            <a:r>
              <a:rPr lang="en-US" dirty="0"/>
              <a:t>vs</a:t>
            </a:r>
            <a:r>
              <a:rPr dirty="0"/>
              <a:t> delivery</a:t>
            </a:r>
          </a:p>
        </p:txBody>
      </p:sp>
      <p:sp>
        <p:nvSpPr>
          <p:cNvPr id="374" name="30/10/2014"/>
          <p:cNvSpPr txBox="1"/>
          <p:nvPr/>
        </p:nvSpPr>
        <p:spPr>
          <a:xfrm>
            <a:off x="1981200" y="6400414"/>
            <a:ext cx="2133600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r>
              <a:t>30/10/2014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Chapter 2 Software Processes"/>
          <p:cNvSpPr txBox="1"/>
          <p:nvPr/>
        </p:nvSpPr>
        <p:spPr>
          <a:xfrm>
            <a:off x="4648200" y="6400414"/>
            <a:ext cx="2895600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t>Chapter 2 Software Processes</a:t>
            </a:r>
          </a:p>
        </p:txBody>
      </p:sp>
      <p:sp>
        <p:nvSpPr>
          <p:cNvPr id="37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57</a:t>
            </a:fld>
            <a:endParaRPr/>
          </a:p>
        </p:txBody>
      </p:sp>
      <p:sp>
        <p:nvSpPr>
          <p:cNvPr id="378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79" name="Incremental delivery (to the customer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Incremental delivery (to the customer)</a:t>
            </a:r>
          </a:p>
        </p:txBody>
      </p:sp>
      <p:pic>
        <p:nvPicPr>
          <p:cNvPr id="380" name="2.10 Incremental-delivery.eps" descr="2.10 Incremental-delivery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1" y="2353036"/>
            <a:ext cx="8172017" cy="2767246"/>
          </a:xfrm>
          <a:prstGeom prst="rect">
            <a:avLst/>
          </a:prstGeom>
          <a:ln w="12700">
            <a:miter lim="400000"/>
          </a:ln>
        </p:spPr>
      </p:pic>
      <p:sp>
        <p:nvSpPr>
          <p:cNvPr id="381" name="30/10/2014"/>
          <p:cNvSpPr txBox="1"/>
          <p:nvPr/>
        </p:nvSpPr>
        <p:spPr>
          <a:xfrm>
            <a:off x="1981200" y="6400414"/>
            <a:ext cx="2133600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r>
              <a:t>30/10/2014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Chapter 2 Software Processes"/>
          <p:cNvSpPr txBox="1"/>
          <p:nvPr/>
        </p:nvSpPr>
        <p:spPr>
          <a:xfrm>
            <a:off x="4648200" y="6400414"/>
            <a:ext cx="2895600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t>Chapter 2 Software Processes</a:t>
            </a:r>
          </a:p>
        </p:txBody>
      </p:sp>
      <p:sp>
        <p:nvSpPr>
          <p:cNvPr id="3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58</a:t>
            </a:fld>
            <a:endParaRPr/>
          </a:p>
        </p:txBody>
      </p:sp>
      <p:sp>
        <p:nvSpPr>
          <p:cNvPr id="385" name="Customer value can be delivered with each increment so system functionality is available earlier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Customer value can be delivered with each increment so system functionality is available earlier.</a:t>
            </a:r>
          </a:p>
          <a:p>
            <a:r>
              <a:t>Early increments act as a prototype to help elicit requirements for later increments.</a:t>
            </a:r>
          </a:p>
          <a:p>
            <a:r>
              <a:t>Lower risk of overall project failure.</a:t>
            </a:r>
          </a:p>
          <a:p>
            <a:r>
              <a:t>The highest priority system services tend to receive the most testing.</a:t>
            </a:r>
          </a:p>
        </p:txBody>
      </p:sp>
      <p:sp>
        <p:nvSpPr>
          <p:cNvPr id="386" name="Incremental delivery advantag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Incremental delivery advantages</a:t>
            </a:r>
          </a:p>
        </p:txBody>
      </p:sp>
      <p:sp>
        <p:nvSpPr>
          <p:cNvPr id="387" name="30/10/2014"/>
          <p:cNvSpPr txBox="1"/>
          <p:nvPr/>
        </p:nvSpPr>
        <p:spPr>
          <a:xfrm>
            <a:off x="1981200" y="6400414"/>
            <a:ext cx="2133600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r>
              <a:t>30/10/2014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Chapter 2 Software Processes"/>
          <p:cNvSpPr txBox="1"/>
          <p:nvPr/>
        </p:nvSpPr>
        <p:spPr>
          <a:xfrm>
            <a:off x="4648200" y="6400414"/>
            <a:ext cx="2895600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t>Chapter 2 Software Processes</a:t>
            </a:r>
          </a:p>
        </p:txBody>
      </p:sp>
      <p:sp>
        <p:nvSpPr>
          <p:cNvPr id="39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59</a:t>
            </a:fld>
            <a:endParaRPr/>
          </a:p>
        </p:txBody>
      </p:sp>
      <p:sp>
        <p:nvSpPr>
          <p:cNvPr id="391" name="Most systems require a set of basic facilities that are used by different parts of the system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Most systems require a set of basic facilities that are used by different parts of the system. </a:t>
            </a:r>
          </a:p>
          <a:p>
            <a:pPr marL="774700" lvl="1" indent="-317500">
              <a:spcBef>
                <a:spcPts val="300"/>
              </a:spcBef>
              <a:defRPr sz="2000"/>
            </a:pPr>
            <a:r>
              <a:t>As requirements are not defined in detail until an increment is to be implemented, it can be hard to identify common facilities that are needed by all increments. </a:t>
            </a:r>
          </a:p>
          <a:p>
            <a:r>
              <a:t>The essence of iterative processes is that the specification is developed in conjunction with the software. </a:t>
            </a:r>
          </a:p>
          <a:p>
            <a:pPr marL="774700" lvl="1" indent="-317500">
              <a:spcBef>
                <a:spcPts val="300"/>
              </a:spcBef>
              <a:defRPr sz="2000"/>
            </a:pPr>
            <a:r>
              <a:t>However, this conflicts with the procurement model of many organizations, where the complete system specification is part of the system development contract. </a:t>
            </a:r>
          </a:p>
        </p:txBody>
      </p:sp>
      <p:sp>
        <p:nvSpPr>
          <p:cNvPr id="392" name="Incremental delivery problem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Incremental delivery problems</a:t>
            </a:r>
          </a:p>
        </p:txBody>
      </p:sp>
      <p:sp>
        <p:nvSpPr>
          <p:cNvPr id="393" name="30/10/2014"/>
          <p:cNvSpPr txBox="1"/>
          <p:nvPr/>
        </p:nvSpPr>
        <p:spPr>
          <a:xfrm>
            <a:off x="1981200" y="6400414"/>
            <a:ext cx="2133600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r>
              <a:t>30/10/2014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E023D3-EE6D-38D5-3883-4B0F7F932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E6D10E-B5A5-CE1C-289B-933A49ECE6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24468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61</a:t>
            </a:fld>
            <a:endParaRPr/>
          </a:p>
        </p:txBody>
      </p:sp>
      <p:sp>
        <p:nvSpPr>
          <p:cNvPr id="466" name="Software development is a planned activity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Software development is a planned activity</a:t>
            </a:r>
          </a:p>
          <a:p>
            <a:r>
              <a:rPr dirty="0"/>
              <a:t>We use process to both manage the software development lifecycle (SDLC) activities and to improve the process itself</a:t>
            </a:r>
          </a:p>
          <a:p>
            <a:r>
              <a:rPr dirty="0"/>
              <a:t>Each company uses its own SDLC model but all of them are essentially </a:t>
            </a:r>
            <a:r>
              <a:rPr b="1" u="sng" dirty="0"/>
              <a:t>Define</a:t>
            </a:r>
            <a:r>
              <a:rPr b="1" dirty="0"/>
              <a:t>, </a:t>
            </a:r>
            <a:r>
              <a:rPr b="1" u="sng" dirty="0"/>
              <a:t>Design</a:t>
            </a:r>
            <a:r>
              <a:rPr b="1" dirty="0"/>
              <a:t>, Develop, </a:t>
            </a:r>
            <a:r>
              <a:rPr b="1" u="sng" dirty="0"/>
              <a:t>Deliver</a:t>
            </a:r>
            <a:r>
              <a:rPr lang="en-US" b="1" dirty="0"/>
              <a:t>, </a:t>
            </a:r>
            <a:r>
              <a:rPr lang="en-US" b="1" u="sng" strike="sngStrike" dirty="0" err="1"/>
              <a:t>D</a:t>
            </a:r>
            <a:r>
              <a:rPr lang="en-US" b="1" u="sng" dirty="0" err="1"/>
              <a:t>Maintain</a:t>
            </a:r>
            <a:endParaRPr b="1" u="sng" dirty="0"/>
          </a:p>
          <a:p>
            <a:r>
              <a:rPr dirty="0"/>
              <a:t>The differences are often of scale and/or concurrency of activities</a:t>
            </a:r>
          </a:p>
        </p:txBody>
      </p:sp>
      <p:sp>
        <p:nvSpPr>
          <p:cNvPr id="467" name="Bottom li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Bottom line</a:t>
            </a:r>
          </a:p>
        </p:txBody>
      </p:sp>
    </p:spTree>
    <p:extLst>
      <p:ext uri="{BB962C8B-B14F-4D97-AF65-F5344CB8AC3E}">
        <p14:creationId xmlns:p14="http://schemas.microsoft.com/office/powerpoint/2010/main" val="766727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2C9D5C1-D8A0-042B-01AF-F973A3AC4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81201" y="2895833"/>
            <a:ext cx="5651525" cy="306071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E1B42C-A53A-6337-150A-76C84DE63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98E2E5A-E984-99BD-C968-042FF3E20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7354" y="1367162"/>
            <a:ext cx="6277292" cy="4709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0387925"/>
      </p:ext>
    </p:extLst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7EC49-4DF6-9E78-9E8C-D3B5C0293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software engineering?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D67A3-9EE9-9F5E-8CA5-FBF5A82FC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r>
              <a:rPr lang="en-US" dirty="0"/>
              <a:t>“A systematic approach to the analysis, design, assessment, implementation, test, maintenance and re-engineering of software, that is, the application of engineering to software.”</a:t>
            </a:r>
          </a:p>
          <a:p>
            <a:r>
              <a:rPr lang="en-US" dirty="0"/>
              <a:t>Software engineering encompasses methodologies and principles related to</a:t>
            </a:r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72B7E14-ADEB-DC57-FBAD-C8638AE36538}"/>
              </a:ext>
            </a:extLst>
          </p:cNvPr>
          <p:cNvGraphicFramePr>
            <a:graphicFrameLocks noGrp="1"/>
          </p:cNvGraphicFramePr>
          <p:nvPr/>
        </p:nvGraphicFramePr>
        <p:xfrm>
          <a:off x="2856753" y="3702050"/>
          <a:ext cx="81280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4755501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6159483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Conceiving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Building (meh)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948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Communicating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Designing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1494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Specifying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724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Designing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Maintaining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5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419848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003185" y="6283152"/>
            <a:ext cx="182217" cy="34562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64</a:t>
            </a:fld>
            <a:endParaRPr/>
          </a:p>
        </p:txBody>
      </p:sp>
      <p:pic>
        <p:nvPicPr>
          <p:cNvPr id="217" name="sony rmvz2200.png" descr="sony rmvz22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61" y="686445"/>
            <a:ext cx="6350001" cy="5295901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940E4A-9F1F-B2F4-13E3-D74331387C10}"/>
              </a:ext>
            </a:extLst>
          </p:cNvPr>
          <p:cNvSpPr txBox="1"/>
          <p:nvPr/>
        </p:nvSpPr>
        <p:spPr>
          <a:xfrm>
            <a:off x="5081726" y="1791213"/>
            <a:ext cx="4583098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trike="sngStrike" dirty="0"/>
              <a:t>Benefits are good. Features with no benefit are actively bad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96CD0A-B934-A308-7FDB-DC4F463009AA}"/>
              </a:ext>
            </a:extLst>
          </p:cNvPr>
          <p:cNvSpPr txBox="1"/>
          <p:nvPr/>
        </p:nvSpPr>
        <p:spPr>
          <a:xfrm>
            <a:off x="5081726" y="2437544"/>
            <a:ext cx="5028432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Software doesn’t make money. </a:t>
            </a:r>
            <a:r>
              <a:rPr lang="en-US" i="1" dirty="0"/>
              <a:t>Deployed artifacts</a:t>
            </a:r>
            <a:r>
              <a:rPr lang="en-US" dirty="0"/>
              <a:t> make money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591554976"/>
      </p:ext>
    </p:extLst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65</a:t>
            </a:fld>
            <a:endParaRPr/>
          </a:p>
        </p:txBody>
      </p:sp>
      <p:sp>
        <p:nvSpPr>
          <p:cNvPr id="410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11" name="RUP Illustrate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RUP Illustrated</a:t>
            </a:r>
          </a:p>
        </p:txBody>
      </p:sp>
      <p:pic>
        <p:nvPicPr>
          <p:cNvPr id="412" name="rup" descr="ru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714500"/>
            <a:ext cx="6781800" cy="4686300"/>
          </a:xfrm>
          <a:prstGeom prst="rect">
            <a:avLst/>
          </a:prstGeom>
          <a:ln w="12700">
            <a:miter lim="400000"/>
          </a:ln>
        </p:spPr>
      </p:pic>
      <p:sp>
        <p:nvSpPr>
          <p:cNvPr id="413" name="Line"/>
          <p:cNvSpPr/>
          <p:nvPr/>
        </p:nvSpPr>
        <p:spPr>
          <a:xfrm>
            <a:off x="2819400" y="1447800"/>
            <a:ext cx="6553200" cy="0"/>
          </a:xfrm>
          <a:prstGeom prst="line">
            <a:avLst/>
          </a:prstGeom>
          <a:ln w="28575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414" name="Time"/>
          <p:cNvSpPr txBox="1"/>
          <p:nvPr/>
        </p:nvSpPr>
        <p:spPr>
          <a:xfrm>
            <a:off x="8839200" y="1143000"/>
            <a:ext cx="390876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914400">
              <a:defRPr sz="1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Time</a:t>
            </a:r>
          </a:p>
        </p:txBody>
      </p:sp>
      <p:sp>
        <p:nvSpPr>
          <p:cNvPr id="415" name="Workflows"/>
          <p:cNvSpPr/>
          <p:nvPr/>
        </p:nvSpPr>
        <p:spPr>
          <a:xfrm>
            <a:off x="2800351" y="2071689"/>
            <a:ext cx="1291059" cy="27699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914400">
              <a:defRPr b="1" u="sng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Workflows  </a:t>
            </a:r>
          </a:p>
        </p:txBody>
      </p:sp>
    </p:spTree>
    <p:extLst>
      <p:ext uri="{BB962C8B-B14F-4D97-AF65-F5344CB8AC3E}">
        <p14:creationId xmlns:p14="http://schemas.microsoft.com/office/powerpoint/2010/main" val="3629594957"/>
      </p:ext>
    </p:extLst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66</a:t>
            </a:fld>
            <a:endParaRPr/>
          </a:p>
        </p:txBody>
      </p:sp>
      <p:sp>
        <p:nvSpPr>
          <p:cNvPr id="428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29" name="The requirements engineering proces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The requirements engineering process</a:t>
            </a:r>
            <a:br/>
            <a:endParaRPr/>
          </a:p>
        </p:txBody>
      </p:sp>
      <p:pic>
        <p:nvPicPr>
          <p:cNvPr id="430" name="2.4 RE-process.eps" descr="2.4 RE-process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462" y="1403051"/>
            <a:ext cx="6339336" cy="439282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92753458"/>
      </p:ext>
    </p:extLst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67</a:t>
            </a:fld>
            <a:endParaRPr/>
          </a:p>
        </p:txBody>
      </p:sp>
      <p:sp>
        <p:nvSpPr>
          <p:cNvPr id="433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34" name="Plan-driven vs agile developmen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Plan-driven vs agile development</a:t>
            </a:r>
          </a:p>
        </p:txBody>
      </p:sp>
      <p:pic>
        <p:nvPicPr>
          <p:cNvPr id="435" name="3.2 PlanBasedAgile.eps" descr="3.2 PlanBasedAgile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749" y="1785249"/>
            <a:ext cx="5731938" cy="435799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91152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003185" y="6283152"/>
            <a:ext cx="182217" cy="345629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68</a:t>
            </a:fld>
            <a:endParaRPr/>
          </a:p>
        </p:txBody>
      </p:sp>
      <p:sp>
        <p:nvSpPr>
          <p:cNvPr id="317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18" name="The waterfall model"/>
          <p:cNvSpPr txBox="1">
            <a:spLocks noGrp="1"/>
          </p:cNvSpPr>
          <p:nvPr>
            <p:ph type="title"/>
          </p:nvPr>
        </p:nvSpPr>
        <p:spPr>
          <a:xfrm>
            <a:off x="1981200" y="484647"/>
            <a:ext cx="8229600" cy="835125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The waterfall model</a:t>
            </a:r>
          </a:p>
          <a:p>
            <a:br/>
            <a:endParaRPr/>
          </a:p>
        </p:txBody>
      </p:sp>
      <p:pic>
        <p:nvPicPr>
          <p:cNvPr id="319" name="2.1.Waterfall-model.eps" descr="2.1.Waterfall-model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053" y="1931940"/>
            <a:ext cx="7183698" cy="4039468"/>
          </a:xfrm>
          <a:prstGeom prst="rect">
            <a:avLst/>
          </a:prstGeom>
          <a:ln w="12700">
            <a:miter lim="400000"/>
          </a:ln>
        </p:spPr>
      </p:pic>
      <p:sp>
        <p:nvSpPr>
          <p:cNvPr id="320" name="Define, Design, Develop, Deliver"/>
          <p:cNvSpPr txBox="1"/>
          <p:nvPr/>
        </p:nvSpPr>
        <p:spPr>
          <a:xfrm>
            <a:off x="6696833" y="1776731"/>
            <a:ext cx="3104692" cy="369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r>
              <a:t>Define, Design, Develop, Deliver</a:t>
            </a:r>
          </a:p>
        </p:txBody>
      </p:sp>
    </p:spTree>
    <p:extLst>
      <p:ext uri="{BB962C8B-B14F-4D97-AF65-F5344CB8AC3E}">
        <p14:creationId xmlns:p14="http://schemas.microsoft.com/office/powerpoint/2010/main" val="689011484"/>
      </p:ext>
    </p:extLst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69</a:t>
            </a:fld>
            <a:endParaRPr/>
          </a:p>
        </p:txBody>
      </p:sp>
      <p:sp>
        <p:nvSpPr>
          <p:cNvPr id="335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36" name="Incremental developmen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Incremental development </a:t>
            </a:r>
            <a:br/>
            <a:endParaRPr/>
          </a:p>
        </p:txBody>
      </p:sp>
      <p:pic>
        <p:nvPicPr>
          <p:cNvPr id="337" name="2.2 Incremental-dev.eps" descr="2.2 Incremental-dev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892460"/>
            <a:ext cx="7517728" cy="405192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25862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27D55DF-278E-F0EB-DAD5-269D3283798D}"/>
                  </a:ext>
                </a:extLst>
              </p14:cNvPr>
              <p14:cNvContentPartPr/>
              <p14:nvPr/>
            </p14:nvContentPartPr>
            <p14:xfrm>
              <a:off x="340920" y="1189080"/>
              <a:ext cx="2719800" cy="1056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27D55DF-278E-F0EB-DAD5-269D3283798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560" y="1179720"/>
                <a:ext cx="2738520" cy="1075320"/>
              </a:xfrm>
              <a:prstGeom prst="rect">
                <a:avLst/>
              </a:prstGeom>
            </p:spPr>
          </p:pic>
        </mc:Fallback>
      </mc:AlternateContent>
      <p:sp>
        <p:nvSpPr>
          <p:cNvPr id="4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70</a:t>
            </a:fld>
            <a:endParaRPr/>
          </a:p>
        </p:txBody>
      </p:sp>
      <p:sp>
        <p:nvSpPr>
          <p:cNvPr id="447" name="`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448" name="The extreme programming (XP) release cyc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1">
              <a:defRPr sz="3000"/>
            </a:pPr>
            <a:r>
              <a:t>The extreme programming (XP) release cycle </a:t>
            </a:r>
          </a:p>
        </p:txBody>
      </p:sp>
      <p:pic>
        <p:nvPicPr>
          <p:cNvPr id="449" name="3.3-XP-ReleaseCycle.eps" descr="3.3-XP-ReleaseCycle.ep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6427" y="2372086"/>
            <a:ext cx="6558006" cy="285627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604993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71</a:t>
            </a:fld>
            <a:endParaRPr/>
          </a:p>
        </p:txBody>
      </p:sp>
      <p:sp>
        <p:nvSpPr>
          <p:cNvPr id="447" name="`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`</a:t>
            </a:r>
          </a:p>
        </p:txBody>
      </p:sp>
      <p:sp>
        <p:nvSpPr>
          <p:cNvPr id="448" name="The extreme programming (XP) release cyc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1">
              <a:defRPr sz="3000"/>
            </a:pPr>
            <a:r>
              <a:t>The extreme programming (XP) release cycle </a:t>
            </a:r>
          </a:p>
        </p:txBody>
      </p:sp>
      <p:pic>
        <p:nvPicPr>
          <p:cNvPr id="449" name="3.3-XP-ReleaseCycle.eps" descr="3.3-XP-ReleaseCycle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427" y="2372086"/>
            <a:ext cx="6558006" cy="285627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34796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72</a:t>
            </a:fld>
            <a:endParaRPr/>
          </a:p>
        </p:txBody>
      </p:sp>
      <p:sp>
        <p:nvSpPr>
          <p:cNvPr id="456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57" name="Scrum sprint cyc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Scrum sprint cycle</a:t>
            </a:r>
          </a:p>
        </p:txBody>
      </p:sp>
      <p:pic>
        <p:nvPicPr>
          <p:cNvPr id="458" name="3.9 Scrum sprint cycle.eps" descr="3.9 Scrum sprint cycle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2235200"/>
            <a:ext cx="8159750" cy="32639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5313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F7F55-10A8-0C10-475E-8C63D91E7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Effort over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6F28B-3D83-94AA-A8F2-5252BE492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E1521EC1-F0D7-132D-2E69-86A37B637F50}"/>
              </a:ext>
            </a:extLst>
          </p:cNvPr>
          <p:cNvSpPr/>
          <p:nvPr/>
        </p:nvSpPr>
        <p:spPr>
          <a:xfrm>
            <a:off x="2705099" y="1873247"/>
            <a:ext cx="6781801" cy="4438653"/>
          </a:xfrm>
          <a:prstGeom prst="rect">
            <a:avLst/>
          </a:prstGeom>
          <a:solidFill>
            <a:srgbClr val="96E3FE"/>
          </a:solidFill>
          <a:ln w="12700">
            <a:miter lim="400000"/>
          </a:ln>
          <a:effectLst>
            <a:outerShdw blurRad="63500" dist="71842" dir="2700000" rotWithShape="0">
              <a:srgbClr val="EAEAEA"/>
            </a:outerShdw>
          </a:effectLst>
        </p:spPr>
        <p:txBody>
          <a:bodyPr lIns="45718" tIns="45718" rIns="45718" bIns="45718" anchor="ctr"/>
          <a:lstStyle/>
          <a:p>
            <a:pPr>
              <a:defRPr sz="1800"/>
            </a:pPr>
            <a:endParaRPr/>
          </a:p>
        </p:txBody>
      </p:sp>
      <p:pic>
        <p:nvPicPr>
          <p:cNvPr id="5" name="image1.png" descr="image1.png">
            <a:extLst>
              <a:ext uri="{FF2B5EF4-FFF2-40B4-BE49-F238E27FC236}">
                <a16:creationId xmlns:a16="http://schemas.microsoft.com/office/drawing/2014/main" id="{559F4113-4DD4-206C-2AA1-658B05689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587" y="2067083"/>
            <a:ext cx="6600825" cy="4208463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CB7197-1402-CDA5-AFBF-C742E9A4312D}"/>
              </a:ext>
            </a:extLst>
          </p:cNvPr>
          <p:cNvSpPr txBox="1"/>
          <p:nvPr/>
        </p:nvSpPr>
        <p:spPr>
          <a:xfrm>
            <a:off x="2705099" y="2579299"/>
            <a:ext cx="887892" cy="461665"/>
          </a:xfrm>
          <a:prstGeom prst="rect">
            <a:avLst/>
          </a:prstGeom>
          <a:solidFill>
            <a:srgbClr val="96E3FE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Effort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03164D-5113-8D05-9F12-F2CA7A6B02D6}"/>
              </a:ext>
            </a:extLst>
          </p:cNvPr>
          <p:cNvSpPr/>
          <p:nvPr/>
        </p:nvSpPr>
        <p:spPr>
          <a:xfrm>
            <a:off x="4373593" y="2025623"/>
            <a:ext cx="3217652" cy="553675"/>
          </a:xfrm>
          <a:prstGeom prst="rect">
            <a:avLst/>
          </a:prstGeom>
          <a:solidFill>
            <a:srgbClr val="96E3FE"/>
          </a:solidFill>
          <a:ln w="38100">
            <a:solidFill>
              <a:srgbClr val="96E3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New business cases</a:t>
            </a:r>
          </a:p>
          <a:p>
            <a:r>
              <a:rPr lang="en-US" dirty="0">
                <a:solidFill>
                  <a:schemeClr val="tx1"/>
                </a:solidFill>
              </a:rPr>
              <a:t>Side effects from other projects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101022-86A6-5219-D47C-E55B6AE93FC8}"/>
              </a:ext>
            </a:extLst>
          </p:cNvPr>
          <p:cNvSpPr/>
          <p:nvPr/>
        </p:nvSpPr>
        <p:spPr>
          <a:xfrm>
            <a:off x="4019279" y="1984075"/>
            <a:ext cx="3917023" cy="1056889"/>
          </a:xfrm>
          <a:prstGeom prst="rect">
            <a:avLst/>
          </a:prstGeom>
          <a:solidFill>
            <a:srgbClr val="96E3FE"/>
          </a:solidFill>
          <a:ln w="38100">
            <a:solidFill>
              <a:srgbClr val="96E3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DC7FC8-F70B-9F5D-0395-201A9FF21285}"/>
              </a:ext>
            </a:extLst>
          </p:cNvPr>
          <p:cNvSpPr/>
          <p:nvPr/>
        </p:nvSpPr>
        <p:spPr>
          <a:xfrm>
            <a:off x="4096377" y="2595527"/>
            <a:ext cx="4141849" cy="1056889"/>
          </a:xfrm>
          <a:prstGeom prst="rect">
            <a:avLst/>
          </a:prstGeom>
          <a:solidFill>
            <a:srgbClr val="96E3FE"/>
          </a:solidFill>
          <a:ln w="38100">
            <a:solidFill>
              <a:srgbClr val="96E3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5C484B-297A-6901-2358-0F12ABDEA8D4}"/>
              </a:ext>
            </a:extLst>
          </p:cNvPr>
          <p:cNvSpPr/>
          <p:nvPr/>
        </p:nvSpPr>
        <p:spPr>
          <a:xfrm>
            <a:off x="4220741" y="2900555"/>
            <a:ext cx="4759357" cy="1056889"/>
          </a:xfrm>
          <a:prstGeom prst="rect">
            <a:avLst/>
          </a:prstGeom>
          <a:solidFill>
            <a:srgbClr val="96E3FE"/>
          </a:solidFill>
          <a:ln w="38100">
            <a:solidFill>
              <a:srgbClr val="96E3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E05BBD7-5622-D49F-B388-FB99438E8F8C}"/>
              </a:ext>
            </a:extLst>
          </p:cNvPr>
          <p:cNvSpPr/>
          <p:nvPr/>
        </p:nvSpPr>
        <p:spPr>
          <a:xfrm>
            <a:off x="4345105" y="3428999"/>
            <a:ext cx="4759357" cy="1056889"/>
          </a:xfrm>
          <a:prstGeom prst="rect">
            <a:avLst/>
          </a:prstGeom>
          <a:solidFill>
            <a:srgbClr val="96E3FE"/>
          </a:solidFill>
          <a:ln w="38100">
            <a:solidFill>
              <a:srgbClr val="96E3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1319F2-F397-665B-EF42-C91E0E582D93}"/>
              </a:ext>
            </a:extLst>
          </p:cNvPr>
          <p:cNvSpPr/>
          <p:nvPr/>
        </p:nvSpPr>
        <p:spPr>
          <a:xfrm>
            <a:off x="4650487" y="3846252"/>
            <a:ext cx="4759357" cy="1056889"/>
          </a:xfrm>
          <a:prstGeom prst="rect">
            <a:avLst/>
          </a:prstGeom>
          <a:solidFill>
            <a:srgbClr val="96E3FE"/>
          </a:solidFill>
          <a:ln w="38100">
            <a:solidFill>
              <a:srgbClr val="96E3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BF5683-BBB7-760E-9F15-72F9D1439485}"/>
              </a:ext>
            </a:extLst>
          </p:cNvPr>
          <p:cNvSpPr/>
          <p:nvPr/>
        </p:nvSpPr>
        <p:spPr>
          <a:xfrm>
            <a:off x="4886185" y="4190590"/>
            <a:ext cx="4342641" cy="1056889"/>
          </a:xfrm>
          <a:prstGeom prst="rect">
            <a:avLst/>
          </a:prstGeom>
          <a:solidFill>
            <a:srgbClr val="96E3FE"/>
          </a:solidFill>
          <a:ln w="38100">
            <a:solidFill>
              <a:srgbClr val="96E3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4BFC850-600F-DA1D-B8B6-F80288594986}"/>
              </a:ext>
            </a:extLst>
          </p:cNvPr>
          <p:cNvCxnSpPr>
            <a:cxnSpLocks/>
          </p:cNvCxnSpPr>
          <p:nvPr/>
        </p:nvCxnSpPr>
        <p:spPr>
          <a:xfrm flipV="1">
            <a:off x="4373593" y="5719313"/>
            <a:ext cx="1017916" cy="37187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73031760-88BD-D01C-5961-A17AC552F700}"/>
              </a:ext>
            </a:extLst>
          </p:cNvPr>
          <p:cNvSpPr/>
          <p:nvPr/>
        </p:nvSpPr>
        <p:spPr>
          <a:xfrm>
            <a:off x="2667966" y="5941771"/>
            <a:ext cx="1820173" cy="388035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Deployment</a:t>
            </a:r>
          </a:p>
        </p:txBody>
      </p:sp>
    </p:spTree>
    <p:extLst>
      <p:ext uri="{BB962C8B-B14F-4D97-AF65-F5344CB8AC3E}">
        <p14:creationId xmlns:p14="http://schemas.microsoft.com/office/powerpoint/2010/main" val="2411996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74</a:t>
            </a:fld>
            <a:endParaRPr/>
          </a:p>
        </p:txBody>
      </p:sp>
      <p:sp>
        <p:nvSpPr>
          <p:cNvPr id="356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57" name="Reuse-oriented software engineer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Reuse-oriented software engineering</a:t>
            </a:r>
          </a:p>
        </p:txBody>
      </p:sp>
      <p:pic>
        <p:nvPicPr>
          <p:cNvPr id="358" name="2.3 Reuse oriented SE.eps" descr="2.3 Reuse oriented SE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551" y="2326733"/>
            <a:ext cx="8793575" cy="365468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43964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Chapter 2 Software Processes"/>
          <p:cNvSpPr txBox="1"/>
          <p:nvPr/>
        </p:nvSpPr>
        <p:spPr>
          <a:xfrm>
            <a:off x="4648200" y="6400414"/>
            <a:ext cx="2895600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t>Chapter 2 Software Processes</a:t>
            </a:r>
          </a:p>
        </p:txBody>
      </p:sp>
      <p:sp>
        <p:nvSpPr>
          <p:cNvPr id="37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75</a:t>
            </a:fld>
            <a:endParaRPr/>
          </a:p>
        </p:txBody>
      </p:sp>
      <p:sp>
        <p:nvSpPr>
          <p:cNvPr id="378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79" name="Incremental delivery (to the customer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Incremental delivery (to the customer)</a:t>
            </a:r>
          </a:p>
        </p:txBody>
      </p:sp>
      <p:pic>
        <p:nvPicPr>
          <p:cNvPr id="380" name="2.10 Incremental-delivery.eps" descr="2.10 Incremental-delivery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1" y="2353036"/>
            <a:ext cx="8172017" cy="2767246"/>
          </a:xfrm>
          <a:prstGeom prst="rect">
            <a:avLst/>
          </a:prstGeom>
          <a:ln w="12700">
            <a:miter lim="400000"/>
          </a:ln>
        </p:spPr>
      </p:pic>
      <p:sp>
        <p:nvSpPr>
          <p:cNvPr id="381" name="30/10/2014"/>
          <p:cNvSpPr txBox="1"/>
          <p:nvPr/>
        </p:nvSpPr>
        <p:spPr>
          <a:xfrm>
            <a:off x="1981200" y="6400414"/>
            <a:ext cx="2133600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r>
              <a:t>30/10/2014</a:t>
            </a:r>
          </a:p>
        </p:txBody>
      </p:sp>
    </p:spTree>
    <p:extLst>
      <p:ext uri="{BB962C8B-B14F-4D97-AF65-F5344CB8AC3E}">
        <p14:creationId xmlns:p14="http://schemas.microsoft.com/office/powerpoint/2010/main" val="135364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11489</TotalTime>
  <Words>3158</Words>
  <Application>Microsoft Office PowerPoint</Application>
  <PresentationFormat>Widescreen</PresentationFormat>
  <Paragraphs>443</Paragraphs>
  <Slides>75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1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The software process</vt:lpstr>
      <vt:lpstr>Bottom line</vt:lpstr>
      <vt:lpstr>Bottom line</vt:lpstr>
      <vt:lpstr>PowerPoint Presentation</vt:lpstr>
      <vt:lpstr>What is software engineering?</vt:lpstr>
      <vt:lpstr>PowerPoint Presentation</vt:lpstr>
      <vt:lpstr>RUP: Rational Unified Process</vt:lpstr>
      <vt:lpstr>RUP Phases</vt:lpstr>
      <vt:lpstr>RUP Illustrated</vt:lpstr>
      <vt:lpstr>RUP Work Products</vt:lpstr>
      <vt:lpstr>The requirements engineering process </vt:lpstr>
      <vt:lpstr>Plan-driven vs agile processes</vt:lpstr>
      <vt:lpstr>Plan-driven vs agile development</vt:lpstr>
      <vt:lpstr>Waterfall Model—2 week decisions every 6 months</vt:lpstr>
      <vt:lpstr>The waterfall model  </vt:lpstr>
      <vt:lpstr>Waterfall model phases</vt:lpstr>
      <vt:lpstr>Software process models</vt:lpstr>
      <vt:lpstr>Problems with the Waterfall (I)</vt:lpstr>
      <vt:lpstr>Problems with the Waterfall (II)</vt:lpstr>
      <vt:lpstr>Waterfall model problems</vt:lpstr>
      <vt:lpstr>Incremental development  </vt:lpstr>
      <vt:lpstr>Incremental development benefits</vt:lpstr>
      <vt:lpstr>Incremental development problems</vt:lpstr>
      <vt:lpstr>Agile methods—6 month decisions every two weeks</vt:lpstr>
      <vt:lpstr>The principles of agile methods </vt:lpstr>
      <vt:lpstr>The extreme programming (XP) release cycle </vt:lpstr>
      <vt:lpstr>Scrum</vt:lpstr>
      <vt:lpstr>Scrum sprint cycle</vt:lpstr>
      <vt:lpstr>The Goal—Scrum </vt:lpstr>
      <vt:lpstr>The Goal—Scrum </vt:lpstr>
      <vt:lpstr>The Goal—Scrum </vt:lpstr>
      <vt:lpstr>The Goal—Scrum </vt:lpstr>
      <vt:lpstr>The Hierarchy</vt:lpstr>
      <vt:lpstr>The Hierarchy</vt:lpstr>
      <vt:lpstr>The Hierarchy</vt:lpstr>
      <vt:lpstr>The Hierarchy</vt:lpstr>
      <vt:lpstr>The Hierarchy</vt:lpstr>
      <vt:lpstr>The Hierarchy</vt:lpstr>
      <vt:lpstr>Ticket Metadata</vt:lpstr>
      <vt:lpstr>The Backlog—not your problem</vt:lpstr>
      <vt:lpstr>The sprint</vt:lpstr>
      <vt:lpstr>Sprint Planning</vt:lpstr>
      <vt:lpstr>The Sprint Board</vt:lpstr>
      <vt:lpstr>Burn Down Charts</vt:lpstr>
      <vt:lpstr>Stand-ups</vt:lpstr>
      <vt:lpstr>The Goal—Kanbans </vt:lpstr>
      <vt:lpstr>The Goal—Kanbans </vt:lpstr>
      <vt:lpstr>Kanbans</vt:lpstr>
      <vt:lpstr>Effort over time</vt:lpstr>
      <vt:lpstr>Integration and configuration</vt:lpstr>
      <vt:lpstr>Types of reusable software</vt:lpstr>
      <vt:lpstr>Reuse-oriented software engineering</vt:lpstr>
      <vt:lpstr>Advantages and disadvantages</vt:lpstr>
      <vt:lpstr>Incremental delivery</vt:lpstr>
      <vt:lpstr>Incremental development vs delivery</vt:lpstr>
      <vt:lpstr>Incremental delivery (to the customer)</vt:lpstr>
      <vt:lpstr>Incremental delivery advantages</vt:lpstr>
      <vt:lpstr>Incremental delivery problems</vt:lpstr>
      <vt:lpstr>Recap</vt:lpstr>
      <vt:lpstr>Bottom line</vt:lpstr>
      <vt:lpstr>PowerPoint Presentation</vt:lpstr>
      <vt:lpstr>What is software engineering?</vt:lpstr>
      <vt:lpstr>PowerPoint Presentation</vt:lpstr>
      <vt:lpstr>RUP Illustrated</vt:lpstr>
      <vt:lpstr>The requirements engineering process </vt:lpstr>
      <vt:lpstr>Plan-driven vs agile development</vt:lpstr>
      <vt:lpstr>The waterfall model  </vt:lpstr>
      <vt:lpstr>Incremental development  </vt:lpstr>
      <vt:lpstr>The extreme programming (XP) release cycle </vt:lpstr>
      <vt:lpstr>The extreme programming (XP) release cycle </vt:lpstr>
      <vt:lpstr>Scrum sprint cycle</vt:lpstr>
      <vt:lpstr>Effort over time</vt:lpstr>
      <vt:lpstr>Reuse-oriented software engineering</vt:lpstr>
      <vt:lpstr>Incremental delivery (to the customer)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CI/CD Pipelines</dc:title>
  <dc:creator>Golbus, Peter B.</dc:creator>
  <cp:lastModifiedBy>Golbus, Peter B.</cp:lastModifiedBy>
  <cp:revision>29</cp:revision>
  <dcterms:created xsi:type="dcterms:W3CDTF">2023-03-31T17:19:26Z</dcterms:created>
  <dcterms:modified xsi:type="dcterms:W3CDTF">2024-09-02T19:16:16Z</dcterms:modified>
</cp:coreProperties>
</file>